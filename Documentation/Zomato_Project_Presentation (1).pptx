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dcd6d86-874b-63c6-9b46-0dcbed45ca5b}">
          <p14:sldIdLst>
            <p14:sldId id="257"/>
            <p14:sldId id="258"/>
            <p14:sldId id="259"/>
          </p14:sldIdLst>
        </p14:section>
        <p14:section name="Data &amp; Method" id="{7377039e-e31d-653a-0180-0886341dcf42}">
          <p14:sldIdLst>
            <p14:sldId id="260"/>
            <p14:sldId id="261"/>
            <p14:sldId id="262"/>
            <p14:sldId id="263"/>
            <p14:sldId id="264"/>
          </p14:sldIdLst>
        </p14:section>
        <p14:section name="Dashboards" id="{90cdd176-0fee-9806-c4ad-c243762e336b}">
          <p14:sldIdLst>
            <p14:sldId id="265"/>
            <p14:sldId id="266"/>
            <p14:sldId id="267"/>
          </p14:sldIdLst>
        </p14:section>
        <p14:section name="Findings" id="{de2f4795-6dcb-84f5-f24b-ffe26b1554f6}">
          <p14:sldIdLst>
            <p14:sldId id="268"/>
          </p14:sldIdLst>
        </p14:section>
        <p14:section name="Wrap-up" id="{e3f884d9-c27a-1aab-fad5-9980d88fee00}">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Order value</c:v>
                </c:pt>
              </c:strCache>
            </c:strRef>
          </c:tx>
          <c:spPr>
            <a:solidFill>
              <a:schemeClr val="accent1"/>
            </a:solidFill>
            <a:ln w="9525" cap="flat">
              <a:solidFill>
                <a:srgbClr val="F9F9F9"/>
              </a:solidFill>
              <a:prstDash val="solid"/>
              <a:round/>
            </a:ln>
            <a:effectLst/>
          </c:spPr>
          <c:dPt>
            <c:idx val="0"/>
            <c:bubble3D val="0"/>
            <c:spPr>
              <a:solidFill>
                <a:srgbClr val="CB202D"/>
              </a:solidFill>
              <a:effectLst/>
            </c:spPr>
          </c:dPt>
          <c:dPt>
            <c:idx val="1"/>
            <c:bubble3D val="0"/>
            <c:spPr>
              <a:solidFill>
                <a:srgbClr val="E8A33D"/>
              </a:solidFill>
              <a:effectLst/>
            </c:spPr>
          </c:dPt>
          <c:dPt>
            <c:idx val="2"/>
            <c:bubble3D val="0"/>
            <c:spPr>
              <a:solidFill>
                <a:srgbClr val="7A7A7A"/>
              </a:solidFill>
              <a:effectLst/>
            </c:spPr>
          </c:dPt>
          <c:dLbls>
            <c:dLbl>
              <c:idx val="0"/>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Delivered</c:v>
                </c:pt>
                <c:pt idx="1">
                  <c:v>Cancelled</c:v>
                </c:pt>
                <c:pt idx="2">
                  <c:v>Returned</c:v>
                </c:pt>
              </c:strCache>
            </c:strRef>
          </c:cat>
          <c:val>
            <c:numRef>
              <c:f>Sheet1!$B$2:$B$4</c:f>
              <c:numCache>
                <c:ptCount val="3"/>
                <c:pt idx="0">
                  <c:v>5726434.82</c:v>
                </c:pt>
                <c:pt idx="1">
                  <c:v>450496.03</c:v>
                </c:pt>
                <c:pt idx="2">
                  <c:v>111718.32</c:v>
                </c:pt>
              </c:numCache>
            </c:numRef>
          </c:val>
        </c:ser>
        <c:firstSliceAng val="0"/>
        <c:holeSize val="55"/>
      </c:doughnutChart>
      <c:spPr>
        <a:noFill/>
        <a:ln>
          <a:noFill/>
        </a:ln>
        <a:effectLst/>
      </c:spPr>
    </c:plotArea>
    <c:legend>
      <c:legendPos val="b"/>
      <c:overlay val="0"/>
      <c:txPr>
        <a:bodyPr/>
        <a:lstStyle/>
        <a:p>
          <a:pPr>
            <a:defRPr sz="1100">
              <a:solidFill>
                <a:srgbClr val="2D2D2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Orders (K)</c:v>
                </c:pt>
              </c:strCache>
            </c:strRef>
          </c:tx>
          <c:spPr>
            <a:solidFill>
              <a:srgbClr val="CB202D"/>
            </a:solidFill>
            <a:effectLst/>
          </c:spPr>
          <c:invertIfNegative val="0"/>
          <c:dLbls>
            <c:numFmt formatCode="0.0" sourceLinked="0"/>
            <c:txPr>
              <a:bodyPr/>
              <a:lstStyle/>
              <a:p>
                <a:pPr>
                  <a:defRPr b="0" i="0" strike="noStrike" sz="1100" u="none">
                    <a:solidFill>
                      <a:srgbClr val="2D2D2D"/>
                    </a:solidFill>
                    <a:latin typeface="+mn-lt"/>
                  </a:defRPr>
                </a:pPr>
              </a:p>
            </c:txPr>
            <c:showLegendKey val="0"/>
            <c:showVal val="1"/>
            <c:showCatName val="0"/>
            <c:showSerName val="0"/>
            <c:showPercent val="0"/>
            <c:showBubbleSize val="0"/>
            <c:showLeaderLines val="0"/>
          </c:dLbls>
          <c:cat>
            <c:multiLvlStrRef>
              <c:f>Sheet1!$A$2:$A$11</c:f>
              <c:multiLvlStrCache>
                <c:ptCount val="10"/>
                <c:lvl>
                  <c:pt idx="0">
                    <c:v>Chennai</c:v>
                  </c:pt>
                  <c:pt idx="1">
                    <c:v>Mumbai</c:v>
                  </c:pt>
                  <c:pt idx="2">
                    <c:v>Bengaluru</c:v>
                  </c:pt>
                  <c:pt idx="3">
                    <c:v>Hyderabad</c:v>
                  </c:pt>
                  <c:pt idx="4">
                    <c:v>Coimbatore</c:v>
                  </c:pt>
                  <c:pt idx="5">
                    <c:v>Pune</c:v>
                  </c:pt>
                  <c:pt idx="6">
                    <c:v>Delhi</c:v>
                  </c:pt>
                  <c:pt idx="7">
                    <c:v>Ahmedabad</c:v>
                  </c:pt>
                  <c:pt idx="8">
                    <c:v>Jaipur</c:v>
                  </c:pt>
                  <c:pt idx="9">
                    <c:v>Kolkata</c:v>
                  </c:pt>
                </c:lvl>
              </c:multiLvlStrCache>
            </c:multiLvlStrRef>
          </c:cat>
          <c:val>
            <c:numRef>
              <c:f>Sheet1!$B$2:$B$11</c:f>
              <c:numCache>
                <c:formatCode>General</c:formatCode>
                <c:ptCount val="10"/>
                <c:pt idx="0">
                  <c:v>1.4</c:v>
                </c:pt>
                <c:pt idx="1">
                  <c:v>1.3</c:v>
                </c:pt>
                <c:pt idx="2">
                  <c:v>1.3</c:v>
                </c:pt>
                <c:pt idx="3">
                  <c:v>1.2</c:v>
                </c:pt>
                <c:pt idx="4">
                  <c:v>1.2</c:v>
                </c:pt>
                <c:pt idx="5">
                  <c:v>1.2</c:v>
                </c:pt>
                <c:pt idx="6">
                  <c:v>1.2</c:v>
                </c:pt>
                <c:pt idx="7">
                  <c:v>1.1</c:v>
                </c:pt>
                <c:pt idx="8">
                  <c:v>1.1</c:v>
                </c:pt>
                <c:pt idx="9">
                  <c:v>0.9</c:v>
                </c:pt>
              </c:numCache>
            </c:numRef>
          </c:val>
        </c:ser>
        <c:dLbls>
          <c:numFmt formatCode="0.0" sourceLinked="0"/>
          <c:txPr>
            <a:bodyPr/>
            <a:lstStyle/>
            <a:p>
              <a:pPr>
                <a:defRPr b="0" i="0" strike="noStrike" sz="1100" u="none">
                  <a:solidFill>
                    <a:srgbClr val="2D2D2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D2D2D"/>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2D2D2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Customers</c:v>
                </c:pt>
              </c:strCache>
            </c:strRef>
          </c:tx>
          <c:spPr>
            <a:solidFill>
              <a:schemeClr val="accent1"/>
            </a:solidFill>
            <a:ln w="9525" cap="flat">
              <a:solidFill>
                <a:srgbClr val="F9F9F9"/>
              </a:solidFill>
              <a:prstDash val="solid"/>
              <a:round/>
            </a:ln>
            <a:effectLst/>
          </c:spPr>
          <c:dPt>
            <c:idx val="0"/>
            <c:bubble3D val="0"/>
            <c:spPr>
              <a:solidFill>
                <a:srgbClr val="CB202D"/>
              </a:solidFill>
              <a:effectLst/>
            </c:spPr>
          </c:dPt>
          <c:dPt>
            <c:idx val="1"/>
            <c:bubble3D val="0"/>
            <c:spPr>
              <a:solidFill>
                <a:srgbClr val="E57A82"/>
              </a:solidFill>
              <a:effectLst/>
            </c:spPr>
          </c:dPt>
          <c:dPt>
            <c:idx val="2"/>
            <c:bubble3D val="0"/>
            <c:spPr>
              <a:solidFill>
                <a:srgbClr val="2D2D2D"/>
              </a:solidFill>
              <a:effectLst/>
            </c:spPr>
          </c:dPt>
          <c:dLbls>
            <c:dLbl>
              <c:idx val="0"/>
              <c:numFmt formatCode="General" sourceLinked="0"/>
              <c:spPr/>
              <c:txPr>
                <a:bodyPr/>
                <a:lstStyle/>
                <a:p>
                  <a:pPr>
                    <a:defRPr sz="1100" b="0"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100" b="0" i="0" u="none" strike="noStrike">
                      <a:solidFill>
                        <a:srgbClr val="FFFFFF"/>
                      </a:solidFill>
                      <a:latin typeface="+mn-lt"/>
                    </a:defRPr>
                  </a:pPr>
                </a:p>
              </c:txPr>
              <c:showLegendKey val="0"/>
              <c:showVal val="1"/>
              <c:showCatName val="0"/>
              <c:showSerName val="0"/>
              <c:showPercent val="0"/>
              <c:showBubbleSize val="0"/>
            </c:dLbl>
            <c:dLbl>
              <c:idx val="2"/>
              <c:numFmt formatCode="General" sourceLinked="0"/>
              <c:spPr/>
              <c:txPr>
                <a:bodyPr/>
                <a:lstStyle/>
                <a:p>
                  <a:pPr>
                    <a:defRPr sz="1100" b="0"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Regular</c:v>
                </c:pt>
                <c:pt idx="1">
                  <c:v>New</c:v>
                </c:pt>
                <c:pt idx="2">
                  <c:v>Frequent</c:v>
                </c:pt>
              </c:strCache>
            </c:strRef>
          </c:cat>
          <c:val>
            <c:numRef>
              <c:f>Sheet1!$B$2:$B$4</c:f>
              <c:numCache>
                <c:ptCount val="3"/>
                <c:pt idx="0">
                  <c:v>439</c:v>
                </c:pt>
                <c:pt idx="1">
                  <c:v>232</c:v>
                </c:pt>
                <c:pt idx="2">
                  <c:v>229</c:v>
                </c:pt>
              </c:numCache>
            </c:numRef>
          </c:val>
        </c:ser>
        <c:firstSliceAng val="0"/>
        <c:holeSize val="55"/>
      </c:doughnutChart>
      <c:spPr>
        <a:noFill/>
        <a:ln>
          <a:noFill/>
        </a:ln>
        <a:effectLst/>
      </c:spPr>
    </c:plotArea>
    <c:legend>
      <c:legendPos val="b"/>
      <c:overlay val="0"/>
      <c:txPr>
        <a:bodyPr/>
        <a:lstStyle/>
        <a:p>
          <a:pPr>
            <a:defRPr sz="1100">
              <a:solidFill>
                <a:srgbClr val="2D2D2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Zomato Restaurant Ratings and Order Trends Analysis. I used MySQL for database preparation and SQL analysis, and Power BI Desktop to build interactive dashboards that explore orders, customer segments, restaurant ratings, reviews and delivery indicators.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in the food-delivery and restaurant marketplace space. The real-world problem is that order, customer, restaurant and review data are difficult to look at together. I used MySQL to store and analyze the data, and Power BI to model it, create DAX measures and present the results as dashboards.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is to bring the four data domains into one analytical workflow. My objectives were to prepare and analyze the data with SQL, build a Power BI data model, create DAX measures, design interactive dashboards and summarize the insights. The analysis is descriptive, so I do not claim cause and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groups of questions guided every SQL query and every dashboard page: volume and value, order status, city, time and segment patterns, delivery and basket size, customer segments, and ratings with cuisine and review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comes from four CSV files: customers with 900 rows, orders with 12,000 rows, restaurants with 250 rows and reviews with 4,300 rows. Together that is 17,450 rows and 31 columns. These are per-file counts, not unique entities. This is a project or practice dataset, so I do not present it as official Zomato business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runs from industry selection and problem identification, to collecting the CSV files, setting up the MySQL database, cleaning and transforming with SQL, analyzing with SQL, modeling in Power BI, building the dashboards and finally writing insights and recommendations. The result is a five-page interactive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MySQL I created the zomato_analytics database and loaded the four CSV files. I used SELECT with filters, aggregate functions such as COUNT, SUM and AVG, GROUP BY for summaries and JOINs on customer_id and restaurant_id. The first query summarizes orders and order value by status. The second joins orders to restaurants to rank the top ten restaurants by order value. Only include in your talk the statements that are in your own SQL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Power Query I imported the data, set the correct data types and checked blanks and inconsistent labels while keeping the raw source unchanged. In the model, orders is the central fact table connected to customers and restaurants by customer_id and restaurant_id, and a DimDate calendar table connects to the order date. Reviews connect to restaurants and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DAX measures drive the KPI cards. Total Orders uses DISTINCTCOUNT on order_id. Cancellation Rate uses DIVIDE to avoid division errors. Average Order Value divides total order value by total orders. Segment customer counts use CALCULATE with a filter on customer_segment. I also created a DimDate table with CALENDAR for time-based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page is the executive overview. The cards show about 12,000 orders, an average review rating of 3.95, a total order value of 6.29 million and an average delivery time of 35.92 minutes. Charts cover orders by hour, order status, an order value breakdown and orders by city. Validate the exact values and units before presenting them as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two, Restaurant Analysis, shows the highest-rated restaurants, the rating distribution, which restaurants offer online delivery and reviews by city. Page four, Ratings and Orders Analysis, covers delivery time by city, order amount distribution, order status, a cuisine treemap and the top ten restaurants by order value, with cards for delivered orders, 865 cancelled orders, cancellation rate and average order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page splits the 900 customers into 439 Regular, 232 New and 229 Frequent customers, and compares them by city and average spend. The map page shows restaurant locations across India as bubbles, with tooltips for city, reviews, rating and orders. Note that the monthly trend visual on the customer page should only be used after the Year Month date issue is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Delivered is the largest status category and accounts for about 91 percent of order value. By city, Chennai has the most orders at about 1.4K and Kolkata the fewest at about 0.9K. Customers split into 439 Regular, 232 New and 229 Frequent. Ratings concentrate around four stars with an average of 3.95. These are descriptive observations from the dashboards; confirm exact counts before quoting percentages.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challenges documented in the project. The Year Month field showed blank values, which I addressed with a proper date table and relationship. Time labels were sorting alphabetically, so I used sort-by-column fields. KPI definitions such as Repeat versus Frequent customers, retention and cancellation rate needed consistent definitions and formatting. Charts with too many categories were replaced with bins or Top N. Finally, I validated Power BI totals against SQL and described the dataset honestly as practice data. Adjust this slide to match the fixes you actually applied.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dashboards make it easier to compare order status, customer segments, restaurant ratings and city-level patterns. Before operational decisions, the dataset source, date relationships, KPI definitions and metric units should be validated.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Zomato Restaurant Ratings &amp; Order Trends Analysis  |  Anudip Foundation  |  DBA_AI</a:t>
            </a:r>
            <a:endParaRPr lang="en-US" sz="10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CB202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10515600" cy="210312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CB202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2.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234440"/>
            <a:ext cx="5943600" cy="365760"/>
          </a:xfrm>
          <a:prstGeom prst="rect">
            <a:avLst/>
          </a:prstGeom>
          <a:noFill/>
          <a:ln/>
        </p:spPr>
        <p:txBody>
          <a:bodyPr wrap="square" lIns="0" tIns="0" rIns="0" bIns="0" rtlCol="0" anchor="t"/>
          <a:lstStyle/>
          <a:p>
            <a:pPr indent="0" marL="0">
              <a:buNone/>
            </a:pPr>
            <a:r>
              <a:rPr lang="en-US" sz="1600" b="1" spc="300" kern="0" dirty="0">
                <a:solidFill>
                  <a:schemeClr val="bg2"/>
                </a:solidFill>
                <a:latin typeface="Calibri" pitchFamily="34" charset="0"/>
                <a:ea typeface="Calibri" pitchFamily="34" charset="-122"/>
                <a:cs typeface="Calibri" pitchFamily="34" charset="-120"/>
              </a:rPr>
              <a:t>ZOMATO  |  SQL + POWER BI PROJECT</a:t>
            </a:r>
            <a:endParaRPr lang="en-US" sz="1600" dirty="0"/>
          </a:p>
        </p:txBody>
      </p:sp>
      <p:sp>
        <p:nvSpPr>
          <p:cNvPr id="3" name="Text 0"/>
          <p:cNvSpPr/>
          <p:nvPr>
            <p:ph idx="100" type="title" hasCustomPrompt="1"/>
          </p:nvPr>
        </p:nvSpPr>
        <p:spPr>
          <a:xfrm>
            <a:off x="640080" y="1828800"/>
            <a:ext cx="10515600" cy="2103120"/>
          </a:xfrm>
          <a:prstGeom prst="rect">
            <a:avLst/>
          </a:prstGeom>
          <a:noFill/>
          <a:ln/>
        </p:spPr>
        <p:txBody>
          <a:bodyPr wrap="square" lIns="0" tIns="0" rIns="0" bIns="0" rtlCol="0" anchor="t"/>
          <a:lstStyle/>
          <a:p>
            <a:pPr algn="l" indent="0" marL="0">
              <a:buNone/>
            </a:pPr>
            <a:r>
              <a:rPr lang="en-US" sz="5400" b="1" dirty="0">
                <a:solidFill>
                  <a:schemeClr val="bg1"/>
                </a:solidFill>
                <a:latin typeface="Cambria" pitchFamily="34" charset="0"/>
                <a:ea typeface="Cambria" pitchFamily="34" charset="-122"/>
                <a:cs typeface="Cambria" pitchFamily="34" charset="-120"/>
              </a:rPr>
              <a:t>Restaurant Ratings &amp; Order Trends Analysis</a:t>
            </a:r>
            <a:endParaRPr lang="en-US" sz="5400" dirty="0"/>
          </a:p>
        </p:txBody>
      </p:sp>
      <p:sp>
        <p:nvSpPr>
          <p:cNvPr id="4" name="Text 2"/>
          <p:cNvSpPr txBox="1"/>
          <p:nvPr/>
        </p:nvSpPr>
        <p:spPr>
          <a:xfrm>
            <a:off x="640080" y="4023360"/>
            <a:ext cx="8686800" cy="822960"/>
          </a:xfrm>
          <a:prstGeom prst="rect">
            <a:avLst/>
          </a:prstGeom>
          <a:noFill/>
          <a:ln/>
        </p:spPr>
        <p:txBody>
          <a:bodyPr wrap="square" lIns="0" tIns="0" rIns="0" bIns="0" rtlCol="0" anchor="t"/>
          <a:lstStyle/>
          <a:p>
            <a:pPr indent="0" marL="0">
              <a:buNone/>
            </a:pPr>
            <a:r>
              <a:rPr lang="en-US" sz="2000" dirty="0">
                <a:solidFill>
                  <a:schemeClr val="bg1"/>
                </a:solidFill>
                <a:latin typeface="Calibri" pitchFamily="34" charset="0"/>
                <a:ea typeface="Calibri" pitchFamily="34" charset="-122"/>
                <a:cs typeface="Calibri" pitchFamily="34" charset="-120"/>
              </a:rPr>
              <a:t>Turning order, customer, restaurant and review data into interactive dashboards using MySQL and Power BI</a:t>
            </a:r>
            <a:endParaRPr lang="en-US" sz="2000" dirty="0"/>
          </a:p>
        </p:txBody>
      </p:sp>
      <p:sp>
        <p:nvSpPr>
          <p:cNvPr id="5" name="Shape 3"/>
          <p:cNvSpPr/>
          <p:nvPr/>
        </p:nvSpPr>
        <p:spPr>
          <a:xfrm>
            <a:off x="640080" y="5257800"/>
            <a:ext cx="5486400" cy="914400"/>
          </a:xfrm>
          <a:prstGeom prst="roundRect">
            <a:avLst>
              <a:gd name="adj" fmla="val 12000"/>
            </a:avLst>
          </a:prstGeom>
          <a:solidFill>
            <a:schemeClr val="accent2"/>
          </a:solidFill>
          <a:ln w="12700">
            <a:solidFill>
              <a:schemeClr val="accent2"/>
            </a:solidFill>
            <a:prstDash val="solid"/>
          </a:ln>
        </p:spPr>
      </p:sp>
      <p:sp>
        <p:nvSpPr>
          <p:cNvPr id="6" name="Text 4"/>
          <p:cNvSpPr txBox="1"/>
          <p:nvPr/>
        </p:nvSpPr>
        <p:spPr>
          <a:xfrm>
            <a:off x="868680" y="5394960"/>
            <a:ext cx="5029200" cy="68580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Presented by Gayathri</a:t>
            </a:r>
            <a:endParaRPr lang="en-US" sz="1800" dirty="0"/>
          </a:p>
          <a:p>
            <a:pPr indent="0" marL="0">
              <a:buNone/>
            </a:pPr>
            <a:r>
              <a:rPr lang="en-US" sz="1400" dirty="0">
                <a:solidFill>
                  <a:schemeClr val="bg1"/>
                </a:solidFill>
                <a:latin typeface="Calibri" pitchFamily="34" charset="0"/>
                <a:ea typeface="Calibri" pitchFamily="34" charset="-122"/>
                <a:cs typeface="Calibri" pitchFamily="34" charset="-120"/>
              </a:rPr>
              <a:t>Anudip Foundation  •  Course: DBA_AI</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Project Overview</a:t>
            </a:r>
            <a:endParaRPr lang="en-US" sz="3400" dirty="0"/>
          </a:p>
        </p:txBody>
      </p:sp>
      <p:sp>
        <p:nvSpPr>
          <p:cNvPr id="3" name="Icon badge"/>
          <p:cNvSpPr/>
          <p:nvPr/>
        </p:nvSpPr>
        <p:spPr>
          <a:xfrm>
            <a:off x="548640" y="1463040"/>
            <a:ext cx="685800" cy="685800"/>
          </a:xfrm>
          <a:prstGeom prst="ellipse">
            <a:avLst/>
          </a:prstGeom>
          <a:solidFill>
            <a:schemeClr val="accent1"/>
          </a:solidFill>
          <a:ln w="12700">
            <a:solidFill>
              <a:schemeClr val="accent1"/>
            </a:solidFill>
            <a:prstDash val="solid"/>
          </a:ln>
        </p:spPr>
      </p:sp>
      <p:pic>
        <p:nvPicPr>
          <p:cNvPr id="4" name="Image 0" descr="icon">    </p:cNvPr>
          <p:cNvPicPr>
            <a:picLocks noChangeAspect="1"/>
          </p:cNvPicPr>
          <p:nvPr/>
        </p:nvPicPr>
        <p:blipFill>
          <a:blip r:embed="rId1"/>
          <a:stretch>
            <a:fillRect/>
          </a:stretch>
        </p:blipFill>
        <p:spPr>
          <a:xfrm>
            <a:off x="726948" y="1641348"/>
            <a:ext cx="329184" cy="329184"/>
          </a:xfrm>
          <a:prstGeom prst="rect">
            <a:avLst/>
          </a:prstGeom>
        </p:spPr>
      </p:pic>
      <p:sp>
        <p:nvSpPr>
          <p:cNvPr id="5" name="Text 2"/>
          <p:cNvSpPr txBox="1"/>
          <p:nvPr/>
        </p:nvSpPr>
        <p:spPr>
          <a:xfrm>
            <a:off x="1463040" y="1417320"/>
            <a:ext cx="420624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Industry</a:t>
            </a:r>
            <a:endParaRPr lang="en-US" sz="2000" dirty="0"/>
          </a:p>
        </p:txBody>
      </p:sp>
      <p:sp>
        <p:nvSpPr>
          <p:cNvPr id="6" name="Text 3"/>
          <p:cNvSpPr txBox="1"/>
          <p:nvPr/>
        </p:nvSpPr>
        <p:spPr>
          <a:xfrm>
            <a:off x="1463040" y="1801368"/>
            <a:ext cx="4297680" cy="7315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Food delivery and restaurant marketplace analytics</a:t>
            </a:r>
            <a:endParaRPr lang="en-US" sz="1500" dirty="0"/>
          </a:p>
        </p:txBody>
      </p:sp>
      <p:sp>
        <p:nvSpPr>
          <p:cNvPr id="7" name="Icon badge"/>
          <p:cNvSpPr/>
          <p:nvPr/>
        </p:nvSpPr>
        <p:spPr>
          <a:xfrm>
            <a:off x="548640" y="2651760"/>
            <a:ext cx="685800" cy="685800"/>
          </a:xfrm>
          <a:prstGeom prst="ellipse">
            <a:avLst/>
          </a:prstGeom>
          <a:solidFill>
            <a:schemeClr val="accent1"/>
          </a:solidFill>
          <a:ln w="12700">
            <a:solidFill>
              <a:schemeClr val="accent1"/>
            </a:solidFill>
            <a:prstDash val="solid"/>
          </a:ln>
        </p:spPr>
      </p:sp>
      <p:pic>
        <p:nvPicPr>
          <p:cNvPr id="8" name="Image 1" descr="icon">    </p:cNvPr>
          <p:cNvPicPr>
            <a:picLocks noChangeAspect="1"/>
          </p:cNvPicPr>
          <p:nvPr/>
        </p:nvPicPr>
        <p:blipFill>
          <a:blip r:embed="rId2"/>
          <a:stretch>
            <a:fillRect/>
          </a:stretch>
        </p:blipFill>
        <p:spPr>
          <a:xfrm>
            <a:off x="726948" y="2830068"/>
            <a:ext cx="329184" cy="329184"/>
          </a:xfrm>
          <a:prstGeom prst="rect">
            <a:avLst/>
          </a:prstGeom>
        </p:spPr>
      </p:pic>
      <p:sp>
        <p:nvSpPr>
          <p:cNvPr id="9" name="Text 5"/>
          <p:cNvSpPr txBox="1"/>
          <p:nvPr/>
        </p:nvSpPr>
        <p:spPr>
          <a:xfrm>
            <a:off x="1463040" y="2606040"/>
            <a:ext cx="420624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Real-world problem</a:t>
            </a:r>
            <a:endParaRPr lang="en-US" sz="2000" dirty="0"/>
          </a:p>
        </p:txBody>
      </p:sp>
      <p:sp>
        <p:nvSpPr>
          <p:cNvPr id="10" name="Text 6"/>
          <p:cNvSpPr txBox="1"/>
          <p:nvPr/>
        </p:nvSpPr>
        <p:spPr>
          <a:xfrm>
            <a:off x="1463040" y="2990088"/>
            <a:ext cx="4297680" cy="7315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Order, customer, restaurant and review data are hard to assess together</a:t>
            </a:r>
            <a:endParaRPr lang="en-US" sz="1500" dirty="0"/>
          </a:p>
        </p:txBody>
      </p:sp>
      <p:sp>
        <p:nvSpPr>
          <p:cNvPr id="11" name="Icon badge"/>
          <p:cNvSpPr/>
          <p:nvPr/>
        </p:nvSpPr>
        <p:spPr>
          <a:xfrm>
            <a:off x="548640" y="3840480"/>
            <a:ext cx="685800" cy="685800"/>
          </a:xfrm>
          <a:prstGeom prst="ellipse">
            <a:avLst/>
          </a:prstGeom>
          <a:solidFill>
            <a:schemeClr val="accent1"/>
          </a:solidFill>
          <a:ln w="12700">
            <a:solidFill>
              <a:schemeClr val="accent1"/>
            </a:solidFill>
            <a:prstDash val="solid"/>
          </a:ln>
        </p:spPr>
      </p:sp>
      <p:pic>
        <p:nvPicPr>
          <p:cNvPr id="12" name="Image 2" descr="icon">    </p:cNvPr>
          <p:cNvPicPr>
            <a:picLocks noChangeAspect="1"/>
          </p:cNvPicPr>
          <p:nvPr/>
        </p:nvPicPr>
        <p:blipFill>
          <a:blip r:embed="rId3"/>
          <a:stretch>
            <a:fillRect/>
          </a:stretch>
        </p:blipFill>
        <p:spPr>
          <a:xfrm>
            <a:off x="726948" y="4018788"/>
            <a:ext cx="329184" cy="329184"/>
          </a:xfrm>
          <a:prstGeom prst="rect">
            <a:avLst/>
          </a:prstGeom>
        </p:spPr>
      </p:pic>
      <p:sp>
        <p:nvSpPr>
          <p:cNvPr id="13" name="Text 8"/>
          <p:cNvSpPr txBox="1"/>
          <p:nvPr/>
        </p:nvSpPr>
        <p:spPr>
          <a:xfrm>
            <a:off x="1463040" y="3794760"/>
            <a:ext cx="420624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Purpose</a:t>
            </a:r>
            <a:endParaRPr lang="en-US" sz="2000" dirty="0"/>
          </a:p>
        </p:txBody>
      </p:sp>
      <p:sp>
        <p:nvSpPr>
          <p:cNvPr id="14" name="Text 9"/>
          <p:cNvSpPr txBox="1"/>
          <p:nvPr/>
        </p:nvSpPr>
        <p:spPr>
          <a:xfrm>
            <a:off x="1463040" y="4178808"/>
            <a:ext cx="4297680" cy="7315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Compare operational and customer-facing indicators in one place</a:t>
            </a:r>
            <a:endParaRPr lang="en-US" sz="1500" dirty="0"/>
          </a:p>
        </p:txBody>
      </p:sp>
      <p:sp>
        <p:nvSpPr>
          <p:cNvPr id="15" name="Icon badge"/>
          <p:cNvSpPr/>
          <p:nvPr/>
        </p:nvSpPr>
        <p:spPr>
          <a:xfrm>
            <a:off x="548640" y="5029200"/>
            <a:ext cx="685800" cy="685800"/>
          </a:xfrm>
          <a:prstGeom prst="ellipse">
            <a:avLst/>
          </a:prstGeom>
          <a:solidFill>
            <a:schemeClr val="accent1"/>
          </a:solidFill>
          <a:ln w="12700">
            <a:solidFill>
              <a:schemeClr val="accent1"/>
            </a:solidFill>
            <a:prstDash val="solid"/>
          </a:ln>
        </p:spPr>
      </p:sp>
      <p:pic>
        <p:nvPicPr>
          <p:cNvPr id="16" name="Image 3" descr="icon">    </p:cNvPr>
          <p:cNvPicPr>
            <a:picLocks noChangeAspect="1"/>
          </p:cNvPicPr>
          <p:nvPr/>
        </p:nvPicPr>
        <p:blipFill>
          <a:blip r:embed="rId4"/>
          <a:stretch>
            <a:fillRect/>
          </a:stretch>
        </p:blipFill>
        <p:spPr>
          <a:xfrm>
            <a:off x="726948" y="5207508"/>
            <a:ext cx="329184" cy="329184"/>
          </a:xfrm>
          <a:prstGeom prst="rect">
            <a:avLst/>
          </a:prstGeom>
        </p:spPr>
      </p:pic>
      <p:sp>
        <p:nvSpPr>
          <p:cNvPr id="17" name="Text 11"/>
          <p:cNvSpPr txBox="1"/>
          <p:nvPr/>
        </p:nvSpPr>
        <p:spPr>
          <a:xfrm>
            <a:off x="1463040" y="4983480"/>
            <a:ext cx="420624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Approach</a:t>
            </a:r>
            <a:endParaRPr lang="en-US" sz="2000" dirty="0"/>
          </a:p>
        </p:txBody>
      </p:sp>
      <p:sp>
        <p:nvSpPr>
          <p:cNvPr id="18" name="Text 12"/>
          <p:cNvSpPr txBox="1"/>
          <p:nvPr/>
        </p:nvSpPr>
        <p:spPr>
          <a:xfrm>
            <a:off x="1463040" y="5367528"/>
            <a:ext cx="4297680" cy="7315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MySQL for storage and SQL analysis; Power BI for modeling, DAX and dashboards</a:t>
            </a:r>
            <a:endParaRPr lang="en-US" sz="1500" dirty="0"/>
          </a:p>
        </p:txBody>
      </p:sp>
      <p:sp>
        <p:nvSpPr>
          <p:cNvPr id="19" name="Card"/>
          <p:cNvSpPr/>
          <p:nvPr/>
        </p:nvSpPr>
        <p:spPr>
          <a:xfrm>
            <a:off x="6309360" y="1417320"/>
            <a:ext cx="5349240" cy="4663440"/>
          </a:xfrm>
          <a:prstGeom prst="roundRect">
            <a:avLst>
              <a:gd name="adj" fmla="val 2353"/>
            </a:avLst>
          </a:prstGeom>
          <a:solidFill>
            <a:schemeClr val="bg2"/>
          </a:solidFill>
          <a:ln w="12700">
            <a:solidFill>
              <a:schemeClr val="bg2"/>
            </a:solidFill>
            <a:prstDash val="solid"/>
          </a:ln>
        </p:spPr>
      </p:sp>
      <p:sp>
        <p:nvSpPr>
          <p:cNvPr id="20" name="Text 14"/>
          <p:cNvSpPr txBox="1"/>
          <p:nvPr/>
        </p:nvSpPr>
        <p:spPr>
          <a:xfrm>
            <a:off x="6583680" y="1600200"/>
            <a:ext cx="475488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Tools &amp; Technologies</a:t>
            </a:r>
            <a:endParaRPr lang="en-US" sz="2000" dirty="0"/>
          </a:p>
        </p:txBody>
      </p:sp>
      <p:sp>
        <p:nvSpPr>
          <p:cNvPr id="21" name="Shape 15"/>
          <p:cNvSpPr/>
          <p:nvPr/>
        </p:nvSpPr>
        <p:spPr>
          <a:xfrm>
            <a:off x="6583680" y="2194560"/>
            <a:ext cx="2331720" cy="1097280"/>
          </a:xfrm>
          <a:prstGeom prst="roundRect">
            <a:avLst>
              <a:gd name="adj" fmla="val 8333"/>
            </a:avLst>
          </a:prstGeom>
          <a:solidFill>
            <a:schemeClr val="bg1"/>
          </a:solidFill>
          <a:ln w="12700">
            <a:solidFill>
              <a:schemeClr val="bg1"/>
            </a:solidFill>
            <a:prstDash val="solid"/>
          </a:ln>
          <a:effectLst>
            <a:outerShdw sx="100000" sy="100000" kx="0" ky="0" algn="bl" rotWithShape="0" blurRad="50800" dist="12700" dir="5400000">
              <a:srgbClr val="000000">
                <a:alpha val="12000"/>
              </a:srgbClr>
            </a:outerShdw>
          </a:effectLst>
        </p:spPr>
      </p:sp>
      <p:sp>
        <p:nvSpPr>
          <p:cNvPr id="22" name="Icon badge"/>
          <p:cNvSpPr/>
          <p:nvPr/>
        </p:nvSpPr>
        <p:spPr>
          <a:xfrm>
            <a:off x="6720840" y="2450592"/>
            <a:ext cx="530352" cy="530352"/>
          </a:xfrm>
          <a:prstGeom prst="ellipse">
            <a:avLst/>
          </a:prstGeom>
          <a:solidFill>
            <a:schemeClr val="accent1"/>
          </a:solidFill>
          <a:ln w="12700">
            <a:solidFill>
              <a:schemeClr val="accent1"/>
            </a:solidFill>
            <a:prstDash val="solid"/>
          </a:ln>
        </p:spPr>
      </p:sp>
      <p:pic>
        <p:nvPicPr>
          <p:cNvPr id="23" name="Image 4" descr="icon">    </p:cNvPr>
          <p:cNvPicPr>
            <a:picLocks noChangeAspect="1"/>
          </p:cNvPicPr>
          <p:nvPr/>
        </p:nvPicPr>
        <p:blipFill>
          <a:blip r:embed="rId5"/>
          <a:stretch>
            <a:fillRect/>
          </a:stretch>
        </p:blipFill>
        <p:spPr>
          <a:xfrm>
            <a:off x="6858732" y="2588484"/>
            <a:ext cx="254569" cy="254569"/>
          </a:xfrm>
          <a:prstGeom prst="rect">
            <a:avLst/>
          </a:prstGeom>
        </p:spPr>
      </p:pic>
      <p:sp>
        <p:nvSpPr>
          <p:cNvPr id="24" name="Text 17"/>
          <p:cNvSpPr txBox="1"/>
          <p:nvPr/>
        </p:nvSpPr>
        <p:spPr>
          <a:xfrm>
            <a:off x="7360920" y="2423160"/>
            <a:ext cx="15087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MySQL</a:t>
            </a:r>
            <a:endParaRPr lang="en-US" sz="1500" dirty="0"/>
          </a:p>
        </p:txBody>
      </p:sp>
      <p:sp>
        <p:nvSpPr>
          <p:cNvPr id="25" name="Text 18"/>
          <p:cNvSpPr txBox="1"/>
          <p:nvPr/>
        </p:nvSpPr>
        <p:spPr>
          <a:xfrm>
            <a:off x="7360920" y="2761488"/>
            <a:ext cx="1508760" cy="45720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Database: zomato_analytics</a:t>
            </a:r>
            <a:endParaRPr lang="en-US" sz="1200" dirty="0"/>
          </a:p>
        </p:txBody>
      </p:sp>
      <p:sp>
        <p:nvSpPr>
          <p:cNvPr id="26" name="Shape 19"/>
          <p:cNvSpPr/>
          <p:nvPr/>
        </p:nvSpPr>
        <p:spPr>
          <a:xfrm>
            <a:off x="9098280" y="2194560"/>
            <a:ext cx="2331720" cy="1097280"/>
          </a:xfrm>
          <a:prstGeom prst="roundRect">
            <a:avLst>
              <a:gd name="adj" fmla="val 8333"/>
            </a:avLst>
          </a:prstGeom>
          <a:solidFill>
            <a:schemeClr val="bg1"/>
          </a:solidFill>
          <a:ln w="12700">
            <a:solidFill>
              <a:schemeClr val="bg1"/>
            </a:solidFill>
            <a:prstDash val="solid"/>
          </a:ln>
          <a:effectLst>
            <a:outerShdw sx="100000" sy="100000" kx="0" ky="0" algn="bl" rotWithShape="0" blurRad="50800" dist="12700" dir="5400000">
              <a:srgbClr val="000000">
                <a:alpha val="12000"/>
              </a:srgbClr>
            </a:outerShdw>
          </a:effectLst>
        </p:spPr>
      </p:sp>
      <p:sp>
        <p:nvSpPr>
          <p:cNvPr id="27" name="Icon badge"/>
          <p:cNvSpPr/>
          <p:nvPr/>
        </p:nvSpPr>
        <p:spPr>
          <a:xfrm>
            <a:off x="9235440" y="2450592"/>
            <a:ext cx="530352" cy="530352"/>
          </a:xfrm>
          <a:prstGeom prst="ellipse">
            <a:avLst/>
          </a:prstGeom>
          <a:solidFill>
            <a:schemeClr val="accent1"/>
          </a:solidFill>
          <a:ln w="12700">
            <a:solidFill>
              <a:schemeClr val="accent1"/>
            </a:solidFill>
            <a:prstDash val="solid"/>
          </a:ln>
        </p:spPr>
      </p:sp>
      <p:pic>
        <p:nvPicPr>
          <p:cNvPr id="28" name="Image 5" descr="icon">    </p:cNvPr>
          <p:cNvPicPr>
            <a:picLocks noChangeAspect="1"/>
          </p:cNvPicPr>
          <p:nvPr/>
        </p:nvPicPr>
        <p:blipFill>
          <a:blip r:embed="rId6"/>
          <a:stretch>
            <a:fillRect/>
          </a:stretch>
        </p:blipFill>
        <p:spPr>
          <a:xfrm>
            <a:off x="9373332" y="2588484"/>
            <a:ext cx="254569" cy="254569"/>
          </a:xfrm>
          <a:prstGeom prst="rect">
            <a:avLst/>
          </a:prstGeom>
        </p:spPr>
      </p:pic>
      <p:sp>
        <p:nvSpPr>
          <p:cNvPr id="29" name="Text 21"/>
          <p:cNvSpPr txBox="1"/>
          <p:nvPr/>
        </p:nvSpPr>
        <p:spPr>
          <a:xfrm>
            <a:off x="9875520" y="2423160"/>
            <a:ext cx="15087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SQL</a:t>
            </a:r>
            <a:endParaRPr lang="en-US" sz="1500" dirty="0"/>
          </a:p>
        </p:txBody>
      </p:sp>
      <p:sp>
        <p:nvSpPr>
          <p:cNvPr id="30" name="Text 22"/>
          <p:cNvSpPr txBox="1"/>
          <p:nvPr/>
        </p:nvSpPr>
        <p:spPr>
          <a:xfrm>
            <a:off x="9875520" y="2761488"/>
            <a:ext cx="1508760" cy="45720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Cleaning and analysis</a:t>
            </a:r>
            <a:endParaRPr lang="en-US" sz="1200" dirty="0"/>
          </a:p>
        </p:txBody>
      </p:sp>
      <p:sp>
        <p:nvSpPr>
          <p:cNvPr id="31" name="Shape 23"/>
          <p:cNvSpPr/>
          <p:nvPr/>
        </p:nvSpPr>
        <p:spPr>
          <a:xfrm>
            <a:off x="6583680" y="3474720"/>
            <a:ext cx="2331720" cy="1097280"/>
          </a:xfrm>
          <a:prstGeom prst="roundRect">
            <a:avLst>
              <a:gd name="adj" fmla="val 8333"/>
            </a:avLst>
          </a:prstGeom>
          <a:solidFill>
            <a:schemeClr val="bg1"/>
          </a:solidFill>
          <a:ln w="12700">
            <a:solidFill>
              <a:schemeClr val="bg1"/>
            </a:solidFill>
            <a:prstDash val="solid"/>
          </a:ln>
          <a:effectLst>
            <a:outerShdw sx="100000" sy="100000" kx="0" ky="0" algn="bl" rotWithShape="0" blurRad="50800" dist="12700" dir="5400000">
              <a:srgbClr val="000000">
                <a:alpha val="12000"/>
              </a:srgbClr>
            </a:outerShdw>
          </a:effectLst>
        </p:spPr>
      </p:sp>
      <p:sp>
        <p:nvSpPr>
          <p:cNvPr id="32" name="Icon badge"/>
          <p:cNvSpPr/>
          <p:nvPr/>
        </p:nvSpPr>
        <p:spPr>
          <a:xfrm>
            <a:off x="6720840" y="3730752"/>
            <a:ext cx="530352" cy="530352"/>
          </a:xfrm>
          <a:prstGeom prst="ellipse">
            <a:avLst/>
          </a:prstGeom>
          <a:solidFill>
            <a:schemeClr val="accent1"/>
          </a:solidFill>
          <a:ln w="12700">
            <a:solidFill>
              <a:schemeClr val="accent1"/>
            </a:solidFill>
            <a:prstDash val="solid"/>
          </a:ln>
        </p:spPr>
      </p:sp>
      <p:pic>
        <p:nvPicPr>
          <p:cNvPr id="33" name="Image 6" descr="icon">    </p:cNvPr>
          <p:cNvPicPr>
            <a:picLocks noChangeAspect="1"/>
          </p:cNvPicPr>
          <p:nvPr/>
        </p:nvPicPr>
        <p:blipFill>
          <a:blip r:embed="rId7"/>
          <a:stretch>
            <a:fillRect/>
          </a:stretch>
        </p:blipFill>
        <p:spPr>
          <a:xfrm>
            <a:off x="6858732" y="3868644"/>
            <a:ext cx="254569" cy="254569"/>
          </a:xfrm>
          <a:prstGeom prst="rect">
            <a:avLst/>
          </a:prstGeom>
        </p:spPr>
      </p:pic>
      <p:sp>
        <p:nvSpPr>
          <p:cNvPr id="34" name="Text 25"/>
          <p:cNvSpPr txBox="1"/>
          <p:nvPr/>
        </p:nvSpPr>
        <p:spPr>
          <a:xfrm>
            <a:off x="7360920" y="3703320"/>
            <a:ext cx="15087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Power BI Desktop</a:t>
            </a:r>
            <a:endParaRPr lang="en-US" sz="1500" dirty="0"/>
          </a:p>
        </p:txBody>
      </p:sp>
      <p:sp>
        <p:nvSpPr>
          <p:cNvPr id="35" name="Text 26"/>
          <p:cNvSpPr txBox="1"/>
          <p:nvPr/>
        </p:nvSpPr>
        <p:spPr>
          <a:xfrm>
            <a:off x="7360920" y="4041648"/>
            <a:ext cx="1508760" cy="45720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Report and dashboards</a:t>
            </a:r>
            <a:endParaRPr lang="en-US" sz="1200" dirty="0"/>
          </a:p>
        </p:txBody>
      </p:sp>
      <p:sp>
        <p:nvSpPr>
          <p:cNvPr id="36" name="Shape 27"/>
          <p:cNvSpPr/>
          <p:nvPr/>
        </p:nvSpPr>
        <p:spPr>
          <a:xfrm>
            <a:off x="9098280" y="3474720"/>
            <a:ext cx="2331720" cy="1097280"/>
          </a:xfrm>
          <a:prstGeom prst="roundRect">
            <a:avLst>
              <a:gd name="adj" fmla="val 8333"/>
            </a:avLst>
          </a:prstGeom>
          <a:solidFill>
            <a:schemeClr val="bg1"/>
          </a:solidFill>
          <a:ln w="12700">
            <a:solidFill>
              <a:schemeClr val="bg1"/>
            </a:solidFill>
            <a:prstDash val="solid"/>
          </a:ln>
          <a:effectLst>
            <a:outerShdw sx="100000" sy="100000" kx="0" ky="0" algn="bl" rotWithShape="0" blurRad="50800" dist="12700" dir="5400000">
              <a:srgbClr val="000000">
                <a:alpha val="12000"/>
              </a:srgbClr>
            </a:outerShdw>
          </a:effectLst>
        </p:spPr>
      </p:sp>
      <p:sp>
        <p:nvSpPr>
          <p:cNvPr id="37" name="Icon badge"/>
          <p:cNvSpPr/>
          <p:nvPr/>
        </p:nvSpPr>
        <p:spPr>
          <a:xfrm>
            <a:off x="9235440" y="3730752"/>
            <a:ext cx="530352" cy="530352"/>
          </a:xfrm>
          <a:prstGeom prst="ellipse">
            <a:avLst/>
          </a:prstGeom>
          <a:solidFill>
            <a:schemeClr val="accent1"/>
          </a:solidFill>
          <a:ln w="12700">
            <a:solidFill>
              <a:schemeClr val="accent1"/>
            </a:solidFill>
            <a:prstDash val="solid"/>
          </a:ln>
        </p:spPr>
      </p:sp>
      <p:pic>
        <p:nvPicPr>
          <p:cNvPr id="38" name="Image 7" descr="icon">    </p:cNvPr>
          <p:cNvPicPr>
            <a:picLocks noChangeAspect="1"/>
          </p:cNvPicPr>
          <p:nvPr/>
        </p:nvPicPr>
        <p:blipFill>
          <a:blip r:embed="rId8"/>
          <a:stretch>
            <a:fillRect/>
          </a:stretch>
        </p:blipFill>
        <p:spPr>
          <a:xfrm>
            <a:off x="9373332" y="3868644"/>
            <a:ext cx="254569" cy="254569"/>
          </a:xfrm>
          <a:prstGeom prst="rect">
            <a:avLst/>
          </a:prstGeom>
        </p:spPr>
      </p:pic>
      <p:sp>
        <p:nvSpPr>
          <p:cNvPr id="39" name="Text 29"/>
          <p:cNvSpPr txBox="1"/>
          <p:nvPr/>
        </p:nvSpPr>
        <p:spPr>
          <a:xfrm>
            <a:off x="9875520" y="3703320"/>
            <a:ext cx="15087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Power Query</a:t>
            </a:r>
            <a:endParaRPr lang="en-US" sz="1500" dirty="0"/>
          </a:p>
        </p:txBody>
      </p:sp>
      <p:sp>
        <p:nvSpPr>
          <p:cNvPr id="40" name="Text 30"/>
          <p:cNvSpPr txBox="1"/>
          <p:nvPr/>
        </p:nvSpPr>
        <p:spPr>
          <a:xfrm>
            <a:off x="9875520" y="4041648"/>
            <a:ext cx="1508760" cy="45720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Import and transformation</a:t>
            </a:r>
            <a:endParaRPr lang="en-US" sz="1200" dirty="0"/>
          </a:p>
        </p:txBody>
      </p:sp>
      <p:sp>
        <p:nvSpPr>
          <p:cNvPr id="41" name="Shape 31"/>
          <p:cNvSpPr/>
          <p:nvPr/>
        </p:nvSpPr>
        <p:spPr>
          <a:xfrm>
            <a:off x="6583680" y="4754880"/>
            <a:ext cx="2331720" cy="1097280"/>
          </a:xfrm>
          <a:prstGeom prst="roundRect">
            <a:avLst>
              <a:gd name="adj" fmla="val 8333"/>
            </a:avLst>
          </a:prstGeom>
          <a:solidFill>
            <a:schemeClr val="bg1"/>
          </a:solidFill>
          <a:ln w="12700">
            <a:solidFill>
              <a:schemeClr val="bg1"/>
            </a:solidFill>
            <a:prstDash val="solid"/>
          </a:ln>
          <a:effectLst>
            <a:outerShdw sx="100000" sy="100000" kx="0" ky="0" algn="bl" rotWithShape="0" blurRad="50800" dist="12700" dir="5400000">
              <a:srgbClr val="000000">
                <a:alpha val="12000"/>
              </a:srgbClr>
            </a:outerShdw>
          </a:effectLst>
        </p:spPr>
      </p:sp>
      <p:sp>
        <p:nvSpPr>
          <p:cNvPr id="42" name="Icon badge"/>
          <p:cNvSpPr/>
          <p:nvPr/>
        </p:nvSpPr>
        <p:spPr>
          <a:xfrm>
            <a:off x="6720840" y="5010912"/>
            <a:ext cx="530352" cy="530352"/>
          </a:xfrm>
          <a:prstGeom prst="ellipse">
            <a:avLst/>
          </a:prstGeom>
          <a:solidFill>
            <a:schemeClr val="accent1"/>
          </a:solidFill>
          <a:ln w="12700">
            <a:solidFill>
              <a:schemeClr val="accent1"/>
            </a:solidFill>
            <a:prstDash val="solid"/>
          </a:ln>
        </p:spPr>
      </p:sp>
      <p:pic>
        <p:nvPicPr>
          <p:cNvPr id="43" name="Image 8" descr="icon">    </p:cNvPr>
          <p:cNvPicPr>
            <a:picLocks noChangeAspect="1"/>
          </p:cNvPicPr>
          <p:nvPr/>
        </p:nvPicPr>
        <p:blipFill>
          <a:blip r:embed="rId9"/>
          <a:stretch>
            <a:fillRect/>
          </a:stretch>
        </p:blipFill>
        <p:spPr>
          <a:xfrm>
            <a:off x="6858732" y="5148804"/>
            <a:ext cx="254569" cy="254569"/>
          </a:xfrm>
          <a:prstGeom prst="rect">
            <a:avLst/>
          </a:prstGeom>
        </p:spPr>
      </p:pic>
      <p:sp>
        <p:nvSpPr>
          <p:cNvPr id="44" name="Text 33"/>
          <p:cNvSpPr txBox="1"/>
          <p:nvPr/>
        </p:nvSpPr>
        <p:spPr>
          <a:xfrm>
            <a:off x="7360920" y="4983480"/>
            <a:ext cx="15087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DAX</a:t>
            </a:r>
            <a:endParaRPr lang="en-US" sz="1500" dirty="0"/>
          </a:p>
        </p:txBody>
      </p:sp>
      <p:sp>
        <p:nvSpPr>
          <p:cNvPr id="45" name="Text 34"/>
          <p:cNvSpPr txBox="1"/>
          <p:nvPr/>
        </p:nvSpPr>
        <p:spPr>
          <a:xfrm>
            <a:off x="7360920" y="5321808"/>
            <a:ext cx="1508760" cy="45720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Measures and date table</a:t>
            </a:r>
            <a:endParaRPr lang="en-US" sz="1200" dirty="0"/>
          </a:p>
        </p:txBody>
      </p:sp>
      <p:sp>
        <p:nvSpPr>
          <p:cNvPr id="46" name="Shape 35"/>
          <p:cNvSpPr/>
          <p:nvPr/>
        </p:nvSpPr>
        <p:spPr>
          <a:xfrm>
            <a:off x="9098280" y="4754880"/>
            <a:ext cx="2331720" cy="1097280"/>
          </a:xfrm>
          <a:prstGeom prst="roundRect">
            <a:avLst>
              <a:gd name="adj" fmla="val 8333"/>
            </a:avLst>
          </a:prstGeom>
          <a:solidFill>
            <a:schemeClr val="bg1"/>
          </a:solidFill>
          <a:ln w="12700">
            <a:solidFill>
              <a:schemeClr val="bg1"/>
            </a:solidFill>
            <a:prstDash val="solid"/>
          </a:ln>
          <a:effectLst>
            <a:outerShdw sx="100000" sy="100000" kx="0" ky="0" algn="bl" rotWithShape="0" blurRad="50800" dist="12700" dir="5400000">
              <a:srgbClr val="000000">
                <a:alpha val="12000"/>
              </a:srgbClr>
            </a:outerShdw>
          </a:effectLst>
        </p:spPr>
      </p:sp>
      <p:sp>
        <p:nvSpPr>
          <p:cNvPr id="47" name="Icon badge"/>
          <p:cNvSpPr/>
          <p:nvPr/>
        </p:nvSpPr>
        <p:spPr>
          <a:xfrm>
            <a:off x="9235440" y="5010912"/>
            <a:ext cx="530352" cy="530352"/>
          </a:xfrm>
          <a:prstGeom prst="ellipse">
            <a:avLst/>
          </a:prstGeom>
          <a:solidFill>
            <a:schemeClr val="accent1"/>
          </a:solidFill>
          <a:ln w="12700">
            <a:solidFill>
              <a:schemeClr val="accent1"/>
            </a:solidFill>
            <a:prstDash val="solid"/>
          </a:ln>
        </p:spPr>
      </p:sp>
      <p:pic>
        <p:nvPicPr>
          <p:cNvPr id="48" name="Image 9" descr="icon">    </p:cNvPr>
          <p:cNvPicPr>
            <a:picLocks noChangeAspect="1"/>
          </p:cNvPicPr>
          <p:nvPr/>
        </p:nvPicPr>
        <p:blipFill>
          <a:blip r:embed="rId10"/>
          <a:stretch>
            <a:fillRect/>
          </a:stretch>
        </p:blipFill>
        <p:spPr>
          <a:xfrm>
            <a:off x="9373332" y="5148804"/>
            <a:ext cx="254569" cy="254569"/>
          </a:xfrm>
          <a:prstGeom prst="rect">
            <a:avLst/>
          </a:prstGeom>
        </p:spPr>
      </p:pic>
      <p:sp>
        <p:nvSpPr>
          <p:cNvPr id="49" name="Text 37"/>
          <p:cNvSpPr txBox="1"/>
          <p:nvPr/>
        </p:nvSpPr>
        <p:spPr>
          <a:xfrm>
            <a:off x="9875520" y="4983480"/>
            <a:ext cx="15087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CSV files</a:t>
            </a:r>
            <a:endParaRPr lang="en-US" sz="1500" dirty="0"/>
          </a:p>
        </p:txBody>
      </p:sp>
      <p:sp>
        <p:nvSpPr>
          <p:cNvPr id="50" name="Text 38"/>
          <p:cNvSpPr txBox="1"/>
          <p:nvPr/>
        </p:nvSpPr>
        <p:spPr>
          <a:xfrm>
            <a:off x="9875520" y="5321808"/>
            <a:ext cx="1508760" cy="45720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Four source datasets</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Problem Statement &amp; Objectives</a:t>
            </a:r>
            <a:endParaRPr lang="en-US" sz="3400" dirty="0"/>
          </a:p>
        </p:txBody>
      </p:sp>
      <p:sp>
        <p:nvSpPr>
          <p:cNvPr id="3" name="Shape 1"/>
          <p:cNvSpPr/>
          <p:nvPr/>
        </p:nvSpPr>
        <p:spPr>
          <a:xfrm>
            <a:off x="548640" y="1371600"/>
            <a:ext cx="4846320" cy="4297680"/>
          </a:xfrm>
          <a:prstGeom prst="roundRect">
            <a:avLst>
              <a:gd name="adj" fmla="val 3191"/>
            </a:avLst>
          </a:prstGeom>
          <a:solidFill>
            <a:schemeClr val="accent1"/>
          </a:solidFill>
          <a:ln w="12700">
            <a:solidFill>
              <a:schemeClr val="accent1"/>
            </a:solidFill>
            <a:prstDash val="solid"/>
          </a:ln>
        </p:spPr>
      </p:sp>
      <p:sp>
        <p:nvSpPr>
          <p:cNvPr id="4" name="Text 2"/>
          <p:cNvSpPr txBox="1"/>
          <p:nvPr/>
        </p:nvSpPr>
        <p:spPr>
          <a:xfrm>
            <a:off x="868680" y="1645920"/>
            <a:ext cx="420624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Problem Statement</a:t>
            </a:r>
            <a:endParaRPr lang="en-US" sz="2200" dirty="0"/>
          </a:p>
        </p:txBody>
      </p:sp>
      <p:sp>
        <p:nvSpPr>
          <p:cNvPr id="5" name="Text 3"/>
          <p:cNvSpPr txBox="1"/>
          <p:nvPr/>
        </p:nvSpPr>
        <p:spPr>
          <a:xfrm>
            <a:off x="868680" y="2240280"/>
            <a:ext cx="4206240" cy="2743200"/>
          </a:xfrm>
          <a:prstGeom prst="rect">
            <a:avLst/>
          </a:prstGeom>
          <a:noFill/>
          <a:ln/>
        </p:spPr>
        <p:txBody>
          <a:bodyPr wrap="square" lIns="0" tIns="0" rIns="0" bIns="0" rtlCol="0" anchor="t"/>
          <a:lstStyle/>
          <a:p>
            <a:pPr indent="0" marL="0">
              <a:buNone/>
            </a:pPr>
            <a:r>
              <a:rPr lang="en-US" sz="1700" dirty="0">
                <a:solidFill>
                  <a:schemeClr val="bg1"/>
                </a:solidFill>
                <a:latin typeface="Calibri" pitchFamily="34" charset="0"/>
                <a:ea typeface="Calibri" pitchFamily="34" charset="-122"/>
                <a:cs typeface="Calibri" pitchFamily="34" charset="-120"/>
              </a:rPr>
              <a:t>Bring order, customer, restaurant and review information into a single analytical workflow. By preparing data in MySQL and visualizing it in Power BI, the report helps explore order trends, delivery indicators, customer segments and restaurant ratings.</a:t>
            </a:r>
            <a:endParaRPr lang="en-US" sz="1700" dirty="0"/>
          </a:p>
        </p:txBody>
      </p:sp>
      <p:sp>
        <p:nvSpPr>
          <p:cNvPr id="6" name="Text 4"/>
          <p:cNvSpPr txBox="1"/>
          <p:nvPr/>
        </p:nvSpPr>
        <p:spPr>
          <a:xfrm>
            <a:off x="868680" y="4937760"/>
            <a:ext cx="4206240" cy="731520"/>
          </a:xfrm>
          <a:prstGeom prst="rect">
            <a:avLst/>
          </a:prstGeom>
          <a:noFill/>
          <a:ln/>
        </p:spPr>
        <p:txBody>
          <a:bodyPr wrap="square" lIns="0" tIns="0" rIns="0" bIns="0" rtlCol="0" anchor="t"/>
          <a:lstStyle/>
          <a:p>
            <a:pPr indent="0" marL="0">
              <a:buNone/>
            </a:pPr>
            <a:r>
              <a:rPr lang="en-US" sz="1400" i="1" dirty="0">
                <a:solidFill>
                  <a:schemeClr val="bg2"/>
                </a:solidFill>
                <a:latin typeface="Calibri" pitchFamily="34" charset="0"/>
                <a:ea typeface="Calibri" pitchFamily="34" charset="-122"/>
                <a:cs typeface="Calibri" pitchFamily="34" charset="-120"/>
              </a:rPr>
              <a:t>Analysis is descriptive: it shows patterns, not cause and effect.</a:t>
            </a:r>
            <a:endParaRPr lang="en-US" sz="1400" dirty="0"/>
          </a:p>
        </p:txBody>
      </p:sp>
      <p:sp>
        <p:nvSpPr>
          <p:cNvPr id="7" name="Text 5"/>
          <p:cNvSpPr txBox="1"/>
          <p:nvPr/>
        </p:nvSpPr>
        <p:spPr>
          <a:xfrm>
            <a:off x="5852160" y="1371600"/>
            <a:ext cx="576072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Project Objectives</a:t>
            </a:r>
            <a:endParaRPr lang="en-US" sz="2200" dirty="0"/>
          </a:p>
        </p:txBody>
      </p:sp>
      <p:sp>
        <p:nvSpPr>
          <p:cNvPr id="8" name="Shape 6"/>
          <p:cNvSpPr/>
          <p:nvPr/>
        </p:nvSpPr>
        <p:spPr>
          <a:xfrm>
            <a:off x="5852160" y="1965960"/>
            <a:ext cx="548640" cy="548640"/>
          </a:xfrm>
          <a:prstGeom prst="ellipse">
            <a:avLst/>
          </a:prstGeom>
          <a:solidFill>
            <a:schemeClr val="bg2"/>
          </a:solidFill>
          <a:ln w="19050">
            <a:solidFill>
              <a:schemeClr val="accent1"/>
            </a:solidFill>
            <a:prstDash val="solid"/>
          </a:ln>
        </p:spPr>
      </p:sp>
      <p:sp>
        <p:nvSpPr>
          <p:cNvPr id="9" name="Text 7"/>
          <p:cNvSpPr txBox="1"/>
          <p:nvPr/>
        </p:nvSpPr>
        <p:spPr>
          <a:xfrm>
            <a:off x="5852160" y="1965960"/>
            <a:ext cx="548640" cy="548640"/>
          </a:xfrm>
          <a:prstGeom prst="rect">
            <a:avLst/>
          </a:prstGeom>
          <a:noFill/>
          <a:ln/>
        </p:spPr>
        <p:txBody>
          <a:bodyPr wrap="square" lIns="0" tIns="0" rIns="0" bIns="0" rtlCol="0" anchor="ctr"/>
          <a:lstStyle/>
          <a:p>
            <a:pPr algn="ctr" indent="0" marL="0">
              <a:buNone/>
            </a:pPr>
            <a:r>
              <a:rPr lang="en-US" sz="1800" b="1" dirty="0">
                <a:solidFill>
                  <a:schemeClr val="accent1"/>
                </a:solidFill>
                <a:latin typeface="Calibri" pitchFamily="34" charset="0"/>
                <a:ea typeface="Calibri" pitchFamily="34" charset="-122"/>
                <a:cs typeface="Calibri" pitchFamily="34" charset="-120"/>
              </a:rPr>
              <a:t>1</a:t>
            </a:r>
            <a:endParaRPr lang="en-US" sz="1800" dirty="0"/>
          </a:p>
        </p:txBody>
      </p:sp>
      <p:sp>
        <p:nvSpPr>
          <p:cNvPr id="10" name="Text 8"/>
          <p:cNvSpPr txBox="1"/>
          <p:nvPr/>
        </p:nvSpPr>
        <p:spPr>
          <a:xfrm>
            <a:off x="6629400" y="1947672"/>
            <a:ext cx="5029200" cy="585216"/>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Prepare and analyze multi-table data using SQL</a:t>
            </a:r>
            <a:endParaRPr lang="en-US" sz="1600" dirty="0"/>
          </a:p>
        </p:txBody>
      </p:sp>
      <p:sp>
        <p:nvSpPr>
          <p:cNvPr id="11" name="Shape 9"/>
          <p:cNvSpPr/>
          <p:nvPr/>
        </p:nvSpPr>
        <p:spPr>
          <a:xfrm>
            <a:off x="5852160" y="2788920"/>
            <a:ext cx="548640" cy="548640"/>
          </a:xfrm>
          <a:prstGeom prst="ellipse">
            <a:avLst/>
          </a:prstGeom>
          <a:solidFill>
            <a:schemeClr val="bg2"/>
          </a:solidFill>
          <a:ln w="19050">
            <a:solidFill>
              <a:schemeClr val="accent1"/>
            </a:solidFill>
            <a:prstDash val="solid"/>
          </a:ln>
        </p:spPr>
      </p:sp>
      <p:sp>
        <p:nvSpPr>
          <p:cNvPr id="12" name="Text 10"/>
          <p:cNvSpPr txBox="1"/>
          <p:nvPr/>
        </p:nvSpPr>
        <p:spPr>
          <a:xfrm>
            <a:off x="5852160" y="2788920"/>
            <a:ext cx="548640" cy="548640"/>
          </a:xfrm>
          <a:prstGeom prst="rect">
            <a:avLst/>
          </a:prstGeom>
          <a:noFill/>
          <a:ln/>
        </p:spPr>
        <p:txBody>
          <a:bodyPr wrap="square" lIns="0" tIns="0" rIns="0" bIns="0" rtlCol="0" anchor="ctr"/>
          <a:lstStyle/>
          <a:p>
            <a:pPr algn="ctr" indent="0" marL="0">
              <a:buNone/>
            </a:pPr>
            <a:r>
              <a:rPr lang="en-US" sz="1800" b="1" dirty="0">
                <a:solidFill>
                  <a:schemeClr val="accent1"/>
                </a:solidFill>
                <a:latin typeface="Calibri" pitchFamily="34" charset="0"/>
                <a:ea typeface="Calibri" pitchFamily="34" charset="-122"/>
                <a:cs typeface="Calibri" pitchFamily="34" charset="-120"/>
              </a:rPr>
              <a:t>2</a:t>
            </a:r>
            <a:endParaRPr lang="en-US" sz="1800" dirty="0"/>
          </a:p>
        </p:txBody>
      </p:sp>
      <p:sp>
        <p:nvSpPr>
          <p:cNvPr id="13" name="Text 11"/>
          <p:cNvSpPr txBox="1"/>
          <p:nvPr/>
        </p:nvSpPr>
        <p:spPr>
          <a:xfrm>
            <a:off x="6629400" y="2770632"/>
            <a:ext cx="5029200" cy="585216"/>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Build a relational data model in Power BI</a:t>
            </a:r>
            <a:endParaRPr lang="en-US" sz="1600" dirty="0"/>
          </a:p>
        </p:txBody>
      </p:sp>
      <p:sp>
        <p:nvSpPr>
          <p:cNvPr id="14" name="Shape 12"/>
          <p:cNvSpPr/>
          <p:nvPr/>
        </p:nvSpPr>
        <p:spPr>
          <a:xfrm>
            <a:off x="5852160" y="3611880"/>
            <a:ext cx="548640" cy="548640"/>
          </a:xfrm>
          <a:prstGeom prst="ellipse">
            <a:avLst/>
          </a:prstGeom>
          <a:solidFill>
            <a:schemeClr val="bg2"/>
          </a:solidFill>
          <a:ln w="19050">
            <a:solidFill>
              <a:schemeClr val="accent1"/>
            </a:solidFill>
            <a:prstDash val="solid"/>
          </a:ln>
        </p:spPr>
      </p:sp>
      <p:sp>
        <p:nvSpPr>
          <p:cNvPr id="15" name="Text 13"/>
          <p:cNvSpPr txBox="1"/>
          <p:nvPr/>
        </p:nvSpPr>
        <p:spPr>
          <a:xfrm>
            <a:off x="5852160" y="3611880"/>
            <a:ext cx="548640" cy="548640"/>
          </a:xfrm>
          <a:prstGeom prst="rect">
            <a:avLst/>
          </a:prstGeom>
          <a:noFill/>
          <a:ln/>
        </p:spPr>
        <p:txBody>
          <a:bodyPr wrap="square" lIns="0" tIns="0" rIns="0" bIns="0" rtlCol="0" anchor="ctr"/>
          <a:lstStyle/>
          <a:p>
            <a:pPr algn="ctr" indent="0" marL="0">
              <a:buNone/>
            </a:pPr>
            <a:r>
              <a:rPr lang="en-US" sz="1800" b="1" dirty="0">
                <a:solidFill>
                  <a:schemeClr val="accent1"/>
                </a:solidFill>
                <a:latin typeface="Calibri" pitchFamily="34" charset="0"/>
                <a:ea typeface="Calibri" pitchFamily="34" charset="-122"/>
                <a:cs typeface="Calibri" pitchFamily="34" charset="-120"/>
              </a:rPr>
              <a:t>3</a:t>
            </a:r>
            <a:endParaRPr lang="en-US" sz="1800" dirty="0"/>
          </a:p>
        </p:txBody>
      </p:sp>
      <p:sp>
        <p:nvSpPr>
          <p:cNvPr id="16" name="Text 14"/>
          <p:cNvSpPr txBox="1"/>
          <p:nvPr/>
        </p:nvSpPr>
        <p:spPr>
          <a:xfrm>
            <a:off x="6629400" y="3593592"/>
            <a:ext cx="5029200" cy="585216"/>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Create DAX measures for orders, value, delivery and customers</a:t>
            </a:r>
            <a:endParaRPr lang="en-US" sz="1600" dirty="0"/>
          </a:p>
        </p:txBody>
      </p:sp>
      <p:sp>
        <p:nvSpPr>
          <p:cNvPr id="17" name="Shape 15"/>
          <p:cNvSpPr/>
          <p:nvPr/>
        </p:nvSpPr>
        <p:spPr>
          <a:xfrm>
            <a:off x="5852160" y="4434840"/>
            <a:ext cx="548640" cy="548640"/>
          </a:xfrm>
          <a:prstGeom prst="ellipse">
            <a:avLst/>
          </a:prstGeom>
          <a:solidFill>
            <a:schemeClr val="bg2"/>
          </a:solidFill>
          <a:ln w="19050">
            <a:solidFill>
              <a:schemeClr val="accent1"/>
            </a:solidFill>
            <a:prstDash val="solid"/>
          </a:ln>
        </p:spPr>
      </p:sp>
      <p:sp>
        <p:nvSpPr>
          <p:cNvPr id="18" name="Text 16"/>
          <p:cNvSpPr txBox="1"/>
          <p:nvPr/>
        </p:nvSpPr>
        <p:spPr>
          <a:xfrm>
            <a:off x="5852160" y="4434840"/>
            <a:ext cx="548640" cy="548640"/>
          </a:xfrm>
          <a:prstGeom prst="rect">
            <a:avLst/>
          </a:prstGeom>
          <a:noFill/>
          <a:ln/>
        </p:spPr>
        <p:txBody>
          <a:bodyPr wrap="square" lIns="0" tIns="0" rIns="0" bIns="0" rtlCol="0" anchor="ctr"/>
          <a:lstStyle/>
          <a:p>
            <a:pPr algn="ctr" indent="0" marL="0">
              <a:buNone/>
            </a:pPr>
            <a:r>
              <a:rPr lang="en-US" sz="1800" b="1" dirty="0">
                <a:solidFill>
                  <a:schemeClr val="accent1"/>
                </a:solidFill>
                <a:latin typeface="Calibri" pitchFamily="34" charset="0"/>
                <a:ea typeface="Calibri" pitchFamily="34" charset="-122"/>
                <a:cs typeface="Calibri" pitchFamily="34" charset="-120"/>
              </a:rPr>
              <a:t>4</a:t>
            </a:r>
            <a:endParaRPr lang="en-US" sz="1800" dirty="0"/>
          </a:p>
        </p:txBody>
      </p:sp>
      <p:sp>
        <p:nvSpPr>
          <p:cNvPr id="19" name="Text 17"/>
          <p:cNvSpPr txBox="1"/>
          <p:nvPr/>
        </p:nvSpPr>
        <p:spPr>
          <a:xfrm>
            <a:off x="6629400" y="4416552"/>
            <a:ext cx="5029200" cy="585216"/>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Design interactive dashboards for orders, customers, ratings and locations</a:t>
            </a:r>
            <a:endParaRPr lang="en-US" sz="1600" dirty="0"/>
          </a:p>
        </p:txBody>
      </p:sp>
      <p:sp>
        <p:nvSpPr>
          <p:cNvPr id="20" name="Shape 18"/>
          <p:cNvSpPr/>
          <p:nvPr/>
        </p:nvSpPr>
        <p:spPr>
          <a:xfrm>
            <a:off x="5852160" y="5257800"/>
            <a:ext cx="548640" cy="548640"/>
          </a:xfrm>
          <a:prstGeom prst="ellipse">
            <a:avLst/>
          </a:prstGeom>
          <a:solidFill>
            <a:schemeClr val="bg2"/>
          </a:solidFill>
          <a:ln w="19050">
            <a:solidFill>
              <a:schemeClr val="accent1"/>
            </a:solidFill>
            <a:prstDash val="solid"/>
          </a:ln>
        </p:spPr>
      </p:sp>
      <p:sp>
        <p:nvSpPr>
          <p:cNvPr id="21" name="Text 19"/>
          <p:cNvSpPr txBox="1"/>
          <p:nvPr/>
        </p:nvSpPr>
        <p:spPr>
          <a:xfrm>
            <a:off x="5852160" y="5257800"/>
            <a:ext cx="548640" cy="548640"/>
          </a:xfrm>
          <a:prstGeom prst="rect">
            <a:avLst/>
          </a:prstGeom>
          <a:noFill/>
          <a:ln/>
        </p:spPr>
        <p:txBody>
          <a:bodyPr wrap="square" lIns="0" tIns="0" rIns="0" bIns="0" rtlCol="0" anchor="ctr"/>
          <a:lstStyle/>
          <a:p>
            <a:pPr algn="ctr" indent="0" marL="0">
              <a:buNone/>
            </a:pPr>
            <a:r>
              <a:rPr lang="en-US" sz="1800" b="1" dirty="0">
                <a:solidFill>
                  <a:schemeClr val="accent1"/>
                </a:solidFill>
                <a:latin typeface="Calibri" pitchFamily="34" charset="0"/>
                <a:ea typeface="Calibri" pitchFamily="34" charset="-122"/>
                <a:cs typeface="Calibri" pitchFamily="34" charset="-120"/>
              </a:rPr>
              <a:t>5</a:t>
            </a:r>
            <a:endParaRPr lang="en-US" sz="1800" dirty="0"/>
          </a:p>
        </p:txBody>
      </p:sp>
      <p:sp>
        <p:nvSpPr>
          <p:cNvPr id="22" name="Text 20"/>
          <p:cNvSpPr txBox="1"/>
          <p:nvPr/>
        </p:nvSpPr>
        <p:spPr>
          <a:xfrm>
            <a:off x="6629400" y="5239512"/>
            <a:ext cx="5029200" cy="585216"/>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Summarize insights and suggest follow-up actions</a:t>
            </a:r>
            <a:endParaRPr lang="en-US" sz="16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Business Questions We Set Out to Answer</a:t>
            </a:r>
            <a:endParaRPr lang="en-US" sz="3400" dirty="0"/>
          </a:p>
        </p:txBody>
      </p:sp>
      <p:sp>
        <p:nvSpPr>
          <p:cNvPr id="3" name="Card"/>
          <p:cNvSpPr/>
          <p:nvPr/>
        </p:nvSpPr>
        <p:spPr>
          <a:xfrm>
            <a:off x="548640" y="1417320"/>
            <a:ext cx="3566160" cy="2240280"/>
          </a:xfrm>
          <a:prstGeom prst="roundRect">
            <a:avLst>
              <a:gd name="adj" fmla="val 4898"/>
            </a:avLst>
          </a:prstGeom>
          <a:solidFill>
            <a:schemeClr val="bg2"/>
          </a:solidFill>
          <a:ln w="12700">
            <a:solidFill>
              <a:schemeClr val="bg2"/>
            </a:solidFill>
            <a:prstDash val="solid"/>
          </a:ln>
        </p:spPr>
      </p:sp>
      <p:sp>
        <p:nvSpPr>
          <p:cNvPr id="4" name="Icon badge"/>
          <p:cNvSpPr/>
          <p:nvPr/>
        </p:nvSpPr>
        <p:spPr>
          <a:xfrm>
            <a:off x="822960" y="1691640"/>
            <a:ext cx="640080" cy="640080"/>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989381" y="1858061"/>
            <a:ext cx="307238" cy="307238"/>
          </a:xfrm>
          <a:prstGeom prst="rect">
            <a:avLst/>
          </a:prstGeom>
        </p:spPr>
      </p:pic>
      <p:sp>
        <p:nvSpPr>
          <p:cNvPr id="6" name="Text 3"/>
          <p:cNvSpPr txBox="1"/>
          <p:nvPr/>
        </p:nvSpPr>
        <p:spPr>
          <a:xfrm>
            <a:off x="1600200" y="1764792"/>
            <a:ext cx="2377440"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Volume &amp; value</a:t>
            </a:r>
            <a:endParaRPr lang="en-US" sz="1800" dirty="0"/>
          </a:p>
        </p:txBody>
      </p:sp>
      <p:sp>
        <p:nvSpPr>
          <p:cNvPr id="7" name="Text 4"/>
          <p:cNvSpPr txBox="1"/>
          <p:nvPr/>
        </p:nvSpPr>
        <p:spPr>
          <a:xfrm>
            <a:off x="822960" y="2560320"/>
            <a:ext cx="3063240"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How many orders are recorded and what is their total order value?</a:t>
            </a:r>
            <a:endParaRPr lang="en-US" sz="1500" dirty="0"/>
          </a:p>
        </p:txBody>
      </p:sp>
      <p:sp>
        <p:nvSpPr>
          <p:cNvPr id="8" name="Card"/>
          <p:cNvSpPr/>
          <p:nvPr/>
        </p:nvSpPr>
        <p:spPr>
          <a:xfrm>
            <a:off x="4297680" y="1417320"/>
            <a:ext cx="3566160" cy="2240280"/>
          </a:xfrm>
          <a:prstGeom prst="roundRect">
            <a:avLst>
              <a:gd name="adj" fmla="val 4898"/>
            </a:avLst>
          </a:prstGeom>
          <a:solidFill>
            <a:schemeClr val="bg2"/>
          </a:solidFill>
          <a:ln w="12700">
            <a:solidFill>
              <a:schemeClr val="bg2"/>
            </a:solidFill>
            <a:prstDash val="solid"/>
          </a:ln>
        </p:spPr>
      </p:sp>
      <p:sp>
        <p:nvSpPr>
          <p:cNvPr id="9" name="Icon badge"/>
          <p:cNvSpPr/>
          <p:nvPr/>
        </p:nvSpPr>
        <p:spPr>
          <a:xfrm>
            <a:off x="4572000" y="1691640"/>
            <a:ext cx="640080" cy="640080"/>
          </a:xfrm>
          <a:prstGeom prst="ellipse">
            <a:avLst/>
          </a:prstGeom>
          <a:solidFill>
            <a:schemeClr val="accent1"/>
          </a:solidFill>
          <a:ln w="12700">
            <a:solidFill>
              <a:schemeClr val="accent1"/>
            </a:solidFill>
            <a:prstDash val="solid"/>
          </a:ln>
        </p:spPr>
      </p:sp>
      <p:pic>
        <p:nvPicPr>
          <p:cNvPr id="10" name="Image 1" descr="icon">    </p:cNvPr>
          <p:cNvPicPr>
            <a:picLocks noChangeAspect="1"/>
          </p:cNvPicPr>
          <p:nvPr/>
        </p:nvPicPr>
        <p:blipFill>
          <a:blip r:embed="rId2"/>
          <a:stretch>
            <a:fillRect/>
          </a:stretch>
        </p:blipFill>
        <p:spPr>
          <a:xfrm>
            <a:off x="4738421" y="1858061"/>
            <a:ext cx="307238" cy="307238"/>
          </a:xfrm>
          <a:prstGeom prst="rect">
            <a:avLst/>
          </a:prstGeom>
        </p:spPr>
      </p:pic>
      <p:sp>
        <p:nvSpPr>
          <p:cNvPr id="11" name="Text 7"/>
          <p:cNvSpPr txBox="1"/>
          <p:nvPr/>
        </p:nvSpPr>
        <p:spPr>
          <a:xfrm>
            <a:off x="5349240" y="1764792"/>
            <a:ext cx="2377440"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Order status</a:t>
            </a:r>
            <a:endParaRPr lang="en-US" sz="1800" dirty="0"/>
          </a:p>
        </p:txBody>
      </p:sp>
      <p:sp>
        <p:nvSpPr>
          <p:cNvPr id="12" name="Text 8"/>
          <p:cNvSpPr txBox="1"/>
          <p:nvPr/>
        </p:nvSpPr>
        <p:spPr>
          <a:xfrm>
            <a:off x="4572000" y="2560320"/>
            <a:ext cx="3063240"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How are orders split between Delivered, Cancelled and Returned?</a:t>
            </a:r>
            <a:endParaRPr lang="en-US" sz="1500" dirty="0"/>
          </a:p>
        </p:txBody>
      </p:sp>
      <p:sp>
        <p:nvSpPr>
          <p:cNvPr id="13" name="Card"/>
          <p:cNvSpPr/>
          <p:nvPr/>
        </p:nvSpPr>
        <p:spPr>
          <a:xfrm>
            <a:off x="8046720" y="1417320"/>
            <a:ext cx="3566160" cy="2240280"/>
          </a:xfrm>
          <a:prstGeom prst="roundRect">
            <a:avLst>
              <a:gd name="adj" fmla="val 4898"/>
            </a:avLst>
          </a:prstGeom>
          <a:solidFill>
            <a:schemeClr val="bg2"/>
          </a:solidFill>
          <a:ln w="12700">
            <a:solidFill>
              <a:schemeClr val="bg2"/>
            </a:solidFill>
            <a:prstDash val="solid"/>
          </a:ln>
        </p:spPr>
      </p:sp>
      <p:sp>
        <p:nvSpPr>
          <p:cNvPr id="14" name="Icon badge"/>
          <p:cNvSpPr/>
          <p:nvPr/>
        </p:nvSpPr>
        <p:spPr>
          <a:xfrm>
            <a:off x="8321040" y="1691640"/>
            <a:ext cx="640080" cy="640080"/>
          </a:xfrm>
          <a:prstGeom prst="ellipse">
            <a:avLst/>
          </a:prstGeom>
          <a:solidFill>
            <a:schemeClr val="accent1"/>
          </a:solidFill>
          <a:ln w="12700">
            <a:solidFill>
              <a:schemeClr val="accent1"/>
            </a:solidFill>
            <a:prstDash val="solid"/>
          </a:ln>
        </p:spPr>
      </p:sp>
      <p:pic>
        <p:nvPicPr>
          <p:cNvPr id="15" name="Image 2" descr="icon">    </p:cNvPr>
          <p:cNvPicPr>
            <a:picLocks noChangeAspect="1"/>
          </p:cNvPicPr>
          <p:nvPr/>
        </p:nvPicPr>
        <p:blipFill>
          <a:blip r:embed="rId3"/>
          <a:stretch>
            <a:fillRect/>
          </a:stretch>
        </p:blipFill>
        <p:spPr>
          <a:xfrm>
            <a:off x="8487461" y="1858061"/>
            <a:ext cx="307238" cy="307238"/>
          </a:xfrm>
          <a:prstGeom prst="rect">
            <a:avLst/>
          </a:prstGeom>
        </p:spPr>
      </p:pic>
      <p:sp>
        <p:nvSpPr>
          <p:cNvPr id="16" name="Text 11"/>
          <p:cNvSpPr txBox="1"/>
          <p:nvPr/>
        </p:nvSpPr>
        <p:spPr>
          <a:xfrm>
            <a:off x="9098280" y="1764792"/>
            <a:ext cx="2377440"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City, time &amp; segment</a:t>
            </a:r>
            <a:endParaRPr lang="en-US" sz="1800" dirty="0"/>
          </a:p>
        </p:txBody>
      </p:sp>
      <p:sp>
        <p:nvSpPr>
          <p:cNvPr id="17" name="Text 12"/>
          <p:cNvSpPr txBox="1"/>
          <p:nvPr/>
        </p:nvSpPr>
        <p:spPr>
          <a:xfrm>
            <a:off x="8321040" y="2560320"/>
            <a:ext cx="3063240"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How do order volumes vary by city, hour and customer segment?</a:t>
            </a:r>
            <a:endParaRPr lang="en-US" sz="1500" dirty="0"/>
          </a:p>
        </p:txBody>
      </p:sp>
      <p:sp>
        <p:nvSpPr>
          <p:cNvPr id="18" name="Card"/>
          <p:cNvSpPr/>
          <p:nvPr/>
        </p:nvSpPr>
        <p:spPr>
          <a:xfrm>
            <a:off x="548640" y="3840480"/>
            <a:ext cx="3566160" cy="2240280"/>
          </a:xfrm>
          <a:prstGeom prst="roundRect">
            <a:avLst>
              <a:gd name="adj" fmla="val 4898"/>
            </a:avLst>
          </a:prstGeom>
          <a:solidFill>
            <a:schemeClr val="bg2"/>
          </a:solidFill>
          <a:ln w="12700">
            <a:solidFill>
              <a:schemeClr val="bg2"/>
            </a:solidFill>
            <a:prstDash val="solid"/>
          </a:ln>
        </p:spPr>
      </p:sp>
      <p:sp>
        <p:nvSpPr>
          <p:cNvPr id="19" name="Icon badge"/>
          <p:cNvSpPr/>
          <p:nvPr/>
        </p:nvSpPr>
        <p:spPr>
          <a:xfrm>
            <a:off x="822960" y="4114800"/>
            <a:ext cx="640080" cy="640080"/>
          </a:xfrm>
          <a:prstGeom prst="ellipse">
            <a:avLst/>
          </a:prstGeom>
          <a:solidFill>
            <a:schemeClr val="accent1"/>
          </a:solidFill>
          <a:ln w="12700">
            <a:solidFill>
              <a:schemeClr val="accent1"/>
            </a:solidFill>
            <a:prstDash val="solid"/>
          </a:ln>
        </p:spPr>
      </p:sp>
      <p:pic>
        <p:nvPicPr>
          <p:cNvPr id="20" name="Image 3" descr="icon">    </p:cNvPr>
          <p:cNvPicPr>
            <a:picLocks noChangeAspect="1"/>
          </p:cNvPicPr>
          <p:nvPr/>
        </p:nvPicPr>
        <p:blipFill>
          <a:blip r:embed="rId4"/>
          <a:stretch>
            <a:fillRect/>
          </a:stretch>
        </p:blipFill>
        <p:spPr>
          <a:xfrm>
            <a:off x="989381" y="4281221"/>
            <a:ext cx="307238" cy="307238"/>
          </a:xfrm>
          <a:prstGeom prst="rect">
            <a:avLst/>
          </a:prstGeom>
        </p:spPr>
      </p:pic>
      <p:sp>
        <p:nvSpPr>
          <p:cNvPr id="21" name="Text 15"/>
          <p:cNvSpPr txBox="1"/>
          <p:nvPr/>
        </p:nvSpPr>
        <p:spPr>
          <a:xfrm>
            <a:off x="1600200" y="4187952"/>
            <a:ext cx="2377440"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Delivery &amp; basket size</a:t>
            </a:r>
            <a:endParaRPr lang="en-US" sz="1800" dirty="0"/>
          </a:p>
        </p:txBody>
      </p:sp>
      <p:sp>
        <p:nvSpPr>
          <p:cNvPr id="22" name="Text 16"/>
          <p:cNvSpPr txBox="1"/>
          <p:nvPr/>
        </p:nvSpPr>
        <p:spPr>
          <a:xfrm>
            <a:off x="822960" y="4983480"/>
            <a:ext cx="3063240"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What are the average order value and average delivery time?</a:t>
            </a:r>
            <a:endParaRPr lang="en-US" sz="1500" dirty="0"/>
          </a:p>
        </p:txBody>
      </p:sp>
      <p:sp>
        <p:nvSpPr>
          <p:cNvPr id="23" name="Card"/>
          <p:cNvSpPr/>
          <p:nvPr/>
        </p:nvSpPr>
        <p:spPr>
          <a:xfrm>
            <a:off x="4297680" y="3840480"/>
            <a:ext cx="3566160" cy="2240280"/>
          </a:xfrm>
          <a:prstGeom prst="roundRect">
            <a:avLst>
              <a:gd name="adj" fmla="val 4898"/>
            </a:avLst>
          </a:prstGeom>
          <a:solidFill>
            <a:schemeClr val="bg2"/>
          </a:solidFill>
          <a:ln w="12700">
            <a:solidFill>
              <a:schemeClr val="bg2"/>
            </a:solidFill>
            <a:prstDash val="solid"/>
          </a:ln>
        </p:spPr>
      </p:sp>
      <p:sp>
        <p:nvSpPr>
          <p:cNvPr id="24" name="Icon badge"/>
          <p:cNvSpPr/>
          <p:nvPr/>
        </p:nvSpPr>
        <p:spPr>
          <a:xfrm>
            <a:off x="4572000" y="4114800"/>
            <a:ext cx="640080" cy="640080"/>
          </a:xfrm>
          <a:prstGeom prst="ellipse">
            <a:avLst/>
          </a:prstGeom>
          <a:solidFill>
            <a:schemeClr val="accent1"/>
          </a:solidFill>
          <a:ln w="12700">
            <a:solidFill>
              <a:schemeClr val="accent1"/>
            </a:solidFill>
            <a:prstDash val="solid"/>
          </a:ln>
        </p:spPr>
      </p:sp>
      <p:pic>
        <p:nvPicPr>
          <p:cNvPr id="25" name="Image 4" descr="icon">    </p:cNvPr>
          <p:cNvPicPr>
            <a:picLocks noChangeAspect="1"/>
          </p:cNvPicPr>
          <p:nvPr/>
        </p:nvPicPr>
        <p:blipFill>
          <a:blip r:embed="rId5"/>
          <a:stretch>
            <a:fillRect/>
          </a:stretch>
        </p:blipFill>
        <p:spPr>
          <a:xfrm>
            <a:off x="4738421" y="4281221"/>
            <a:ext cx="307238" cy="307238"/>
          </a:xfrm>
          <a:prstGeom prst="rect">
            <a:avLst/>
          </a:prstGeom>
        </p:spPr>
      </p:pic>
      <p:sp>
        <p:nvSpPr>
          <p:cNvPr id="26" name="Text 19"/>
          <p:cNvSpPr txBox="1"/>
          <p:nvPr/>
        </p:nvSpPr>
        <p:spPr>
          <a:xfrm>
            <a:off x="5349240" y="4187952"/>
            <a:ext cx="2377440"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Customers</a:t>
            </a:r>
            <a:endParaRPr lang="en-US" sz="1800" dirty="0"/>
          </a:p>
        </p:txBody>
      </p:sp>
      <p:sp>
        <p:nvSpPr>
          <p:cNvPr id="27" name="Text 20"/>
          <p:cNvSpPr txBox="1"/>
          <p:nvPr/>
        </p:nvSpPr>
        <p:spPr>
          <a:xfrm>
            <a:off x="4572000" y="4983480"/>
            <a:ext cx="3063240"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How are customers spread across New, Regular and Frequent segments?</a:t>
            </a:r>
            <a:endParaRPr lang="en-US" sz="1500" dirty="0"/>
          </a:p>
        </p:txBody>
      </p:sp>
      <p:sp>
        <p:nvSpPr>
          <p:cNvPr id="28" name="Card"/>
          <p:cNvSpPr/>
          <p:nvPr/>
        </p:nvSpPr>
        <p:spPr>
          <a:xfrm>
            <a:off x="8046720" y="3840480"/>
            <a:ext cx="3566160" cy="2240280"/>
          </a:xfrm>
          <a:prstGeom prst="roundRect">
            <a:avLst>
              <a:gd name="adj" fmla="val 4898"/>
            </a:avLst>
          </a:prstGeom>
          <a:solidFill>
            <a:schemeClr val="bg2"/>
          </a:solidFill>
          <a:ln w="12700">
            <a:solidFill>
              <a:schemeClr val="bg2"/>
            </a:solidFill>
            <a:prstDash val="solid"/>
          </a:ln>
        </p:spPr>
      </p:sp>
      <p:sp>
        <p:nvSpPr>
          <p:cNvPr id="29" name="Icon badge"/>
          <p:cNvSpPr/>
          <p:nvPr/>
        </p:nvSpPr>
        <p:spPr>
          <a:xfrm>
            <a:off x="8321040" y="4114800"/>
            <a:ext cx="640080" cy="640080"/>
          </a:xfrm>
          <a:prstGeom prst="ellipse">
            <a:avLst/>
          </a:prstGeom>
          <a:solidFill>
            <a:schemeClr val="accent1"/>
          </a:solidFill>
          <a:ln w="12700">
            <a:solidFill>
              <a:schemeClr val="accent1"/>
            </a:solidFill>
            <a:prstDash val="solid"/>
          </a:ln>
        </p:spPr>
      </p:sp>
      <p:pic>
        <p:nvPicPr>
          <p:cNvPr id="30" name="Image 5" descr="icon">    </p:cNvPr>
          <p:cNvPicPr>
            <a:picLocks noChangeAspect="1"/>
          </p:cNvPicPr>
          <p:nvPr/>
        </p:nvPicPr>
        <p:blipFill>
          <a:blip r:embed="rId6"/>
          <a:stretch>
            <a:fillRect/>
          </a:stretch>
        </p:blipFill>
        <p:spPr>
          <a:xfrm>
            <a:off x="8487461" y="4281221"/>
            <a:ext cx="307238" cy="307238"/>
          </a:xfrm>
          <a:prstGeom prst="rect">
            <a:avLst/>
          </a:prstGeom>
        </p:spPr>
      </p:pic>
      <p:sp>
        <p:nvSpPr>
          <p:cNvPr id="31" name="Text 23"/>
          <p:cNvSpPr txBox="1"/>
          <p:nvPr/>
        </p:nvSpPr>
        <p:spPr>
          <a:xfrm>
            <a:off x="9098280" y="4187952"/>
            <a:ext cx="2377440"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Ratings &amp; cuisine</a:t>
            </a:r>
            <a:endParaRPr lang="en-US" sz="1800" dirty="0"/>
          </a:p>
        </p:txBody>
      </p:sp>
      <p:sp>
        <p:nvSpPr>
          <p:cNvPr id="32" name="Text 24"/>
          <p:cNvSpPr txBox="1"/>
          <p:nvPr/>
        </p:nvSpPr>
        <p:spPr>
          <a:xfrm>
            <a:off x="8321040" y="4983480"/>
            <a:ext cx="3063240"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Which restaurants rate highest, and how do cuisines and reviews compare?</a:t>
            </a:r>
            <a:endParaRPr lang="en-US" sz="15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Dataset Overview</a:t>
            </a:r>
            <a:endParaRPr lang="en-US" sz="3400" dirty="0"/>
          </a:p>
        </p:txBody>
      </p:sp>
      <p:sp>
        <p:nvSpPr>
          <p:cNvPr id="3" name="Card"/>
          <p:cNvSpPr/>
          <p:nvPr/>
        </p:nvSpPr>
        <p:spPr>
          <a:xfrm>
            <a:off x="548640" y="1371600"/>
            <a:ext cx="2651760" cy="3840480"/>
          </a:xfrm>
          <a:prstGeom prst="roundRect">
            <a:avLst>
              <a:gd name="adj" fmla="val 4138"/>
            </a:avLst>
          </a:prstGeom>
          <a:solidFill>
            <a:schemeClr val="bg2"/>
          </a:solidFill>
          <a:ln w="12700">
            <a:solidFill>
              <a:schemeClr val="bg2"/>
            </a:solidFill>
            <a:prstDash val="solid"/>
          </a:ln>
        </p:spPr>
      </p:sp>
      <p:sp>
        <p:nvSpPr>
          <p:cNvPr id="4" name="Icon badge"/>
          <p:cNvSpPr/>
          <p:nvPr/>
        </p:nvSpPr>
        <p:spPr>
          <a:xfrm>
            <a:off x="777240" y="1572768"/>
            <a:ext cx="566928" cy="566928"/>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924641" y="1720169"/>
            <a:ext cx="272125" cy="272125"/>
          </a:xfrm>
          <a:prstGeom prst="rect">
            <a:avLst/>
          </a:prstGeom>
        </p:spPr>
      </p:pic>
      <p:sp>
        <p:nvSpPr>
          <p:cNvPr id="6" name="Text 3"/>
          <p:cNvSpPr txBox="1"/>
          <p:nvPr/>
        </p:nvSpPr>
        <p:spPr>
          <a:xfrm>
            <a:off x="1463040" y="1627632"/>
            <a:ext cx="1691640" cy="4572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customers.csv</a:t>
            </a:r>
            <a:endParaRPr lang="en-US" sz="1500" dirty="0"/>
          </a:p>
        </p:txBody>
      </p:sp>
      <p:sp>
        <p:nvSpPr>
          <p:cNvPr id="7" name="Text 4"/>
          <p:cNvSpPr txBox="1"/>
          <p:nvPr/>
        </p:nvSpPr>
        <p:spPr>
          <a:xfrm>
            <a:off x="777240" y="2331720"/>
            <a:ext cx="2194560" cy="73152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900</a:t>
            </a:r>
            <a:endParaRPr lang="en-US" sz="4400" dirty="0"/>
          </a:p>
        </p:txBody>
      </p:sp>
      <p:sp>
        <p:nvSpPr>
          <p:cNvPr id="8" name="Text 5"/>
          <p:cNvSpPr txBox="1"/>
          <p:nvPr/>
        </p:nvSpPr>
        <p:spPr>
          <a:xfrm>
            <a:off x="777240" y="3063240"/>
            <a:ext cx="2194560" cy="32004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rows  •  4 columns</a:t>
            </a:r>
            <a:endParaRPr lang="en-US" sz="1400" dirty="0"/>
          </a:p>
        </p:txBody>
      </p:sp>
      <p:sp>
        <p:nvSpPr>
          <p:cNvPr id="9" name="Text 6"/>
          <p:cNvSpPr txBox="1"/>
          <p:nvPr/>
        </p:nvSpPr>
        <p:spPr>
          <a:xfrm>
            <a:off x="777240" y="3520440"/>
            <a:ext cx="2240280" cy="15544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customer_id, customer_city, signup_date, customer_segment</a:t>
            </a:r>
            <a:endParaRPr lang="en-US" sz="1200" dirty="0"/>
          </a:p>
        </p:txBody>
      </p:sp>
      <p:sp>
        <p:nvSpPr>
          <p:cNvPr id="10" name="Card"/>
          <p:cNvSpPr/>
          <p:nvPr/>
        </p:nvSpPr>
        <p:spPr>
          <a:xfrm>
            <a:off x="3364992" y="1371600"/>
            <a:ext cx="2651760" cy="3840480"/>
          </a:xfrm>
          <a:prstGeom prst="roundRect">
            <a:avLst>
              <a:gd name="adj" fmla="val 4138"/>
            </a:avLst>
          </a:prstGeom>
          <a:solidFill>
            <a:schemeClr val="bg2"/>
          </a:solidFill>
          <a:ln w="12700">
            <a:solidFill>
              <a:schemeClr val="bg2"/>
            </a:solidFill>
            <a:prstDash val="solid"/>
          </a:ln>
        </p:spPr>
      </p:sp>
      <p:sp>
        <p:nvSpPr>
          <p:cNvPr id="11" name="Icon badge"/>
          <p:cNvSpPr/>
          <p:nvPr/>
        </p:nvSpPr>
        <p:spPr>
          <a:xfrm>
            <a:off x="3593592" y="1572768"/>
            <a:ext cx="566928" cy="566928"/>
          </a:xfrm>
          <a:prstGeom prst="ellipse">
            <a:avLst/>
          </a:prstGeom>
          <a:solidFill>
            <a:schemeClr val="accent1"/>
          </a:solidFill>
          <a:ln w="12700">
            <a:solidFill>
              <a:schemeClr val="accent1"/>
            </a:solidFill>
            <a:prstDash val="solid"/>
          </a:ln>
        </p:spPr>
      </p:sp>
      <p:pic>
        <p:nvPicPr>
          <p:cNvPr id="12" name="Image 1" descr="icon">    </p:cNvPr>
          <p:cNvPicPr>
            <a:picLocks noChangeAspect="1"/>
          </p:cNvPicPr>
          <p:nvPr/>
        </p:nvPicPr>
        <p:blipFill>
          <a:blip r:embed="rId2"/>
          <a:stretch>
            <a:fillRect/>
          </a:stretch>
        </p:blipFill>
        <p:spPr>
          <a:xfrm>
            <a:off x="3740993" y="1720169"/>
            <a:ext cx="272125" cy="272125"/>
          </a:xfrm>
          <a:prstGeom prst="rect">
            <a:avLst/>
          </a:prstGeom>
        </p:spPr>
      </p:pic>
      <p:sp>
        <p:nvSpPr>
          <p:cNvPr id="13" name="Text 9"/>
          <p:cNvSpPr txBox="1"/>
          <p:nvPr/>
        </p:nvSpPr>
        <p:spPr>
          <a:xfrm>
            <a:off x="4279392" y="1627632"/>
            <a:ext cx="1691640" cy="4572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orders.csv</a:t>
            </a:r>
            <a:endParaRPr lang="en-US" sz="1500" dirty="0"/>
          </a:p>
        </p:txBody>
      </p:sp>
      <p:sp>
        <p:nvSpPr>
          <p:cNvPr id="14" name="Text 10"/>
          <p:cNvSpPr txBox="1"/>
          <p:nvPr/>
        </p:nvSpPr>
        <p:spPr>
          <a:xfrm>
            <a:off x="3593592" y="2331720"/>
            <a:ext cx="2194560" cy="73152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12,000</a:t>
            </a:r>
            <a:endParaRPr lang="en-US" sz="4400" dirty="0"/>
          </a:p>
        </p:txBody>
      </p:sp>
      <p:sp>
        <p:nvSpPr>
          <p:cNvPr id="15" name="Text 11"/>
          <p:cNvSpPr txBox="1"/>
          <p:nvPr/>
        </p:nvSpPr>
        <p:spPr>
          <a:xfrm>
            <a:off x="3593592" y="3063240"/>
            <a:ext cx="2194560" cy="32004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rows  •  10 columns</a:t>
            </a:r>
            <a:endParaRPr lang="en-US" sz="1400" dirty="0"/>
          </a:p>
        </p:txBody>
      </p:sp>
      <p:sp>
        <p:nvSpPr>
          <p:cNvPr id="16" name="Text 12"/>
          <p:cNvSpPr txBox="1"/>
          <p:nvPr/>
        </p:nvSpPr>
        <p:spPr>
          <a:xfrm>
            <a:off x="3593592" y="3520440"/>
            <a:ext cx="2240280" cy="15544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order_id, customer_id, restaurant_id, order_date, order_time, order_amount, delivery_time_mins, order_status …</a:t>
            </a:r>
            <a:endParaRPr lang="en-US" sz="1200" dirty="0"/>
          </a:p>
        </p:txBody>
      </p:sp>
      <p:sp>
        <p:nvSpPr>
          <p:cNvPr id="17" name="Card"/>
          <p:cNvSpPr/>
          <p:nvPr/>
        </p:nvSpPr>
        <p:spPr>
          <a:xfrm>
            <a:off x="6181344" y="1371600"/>
            <a:ext cx="2651760" cy="3840480"/>
          </a:xfrm>
          <a:prstGeom prst="roundRect">
            <a:avLst>
              <a:gd name="adj" fmla="val 4138"/>
            </a:avLst>
          </a:prstGeom>
          <a:solidFill>
            <a:schemeClr val="bg2"/>
          </a:solidFill>
          <a:ln w="12700">
            <a:solidFill>
              <a:schemeClr val="bg2"/>
            </a:solidFill>
            <a:prstDash val="solid"/>
          </a:ln>
        </p:spPr>
      </p:sp>
      <p:sp>
        <p:nvSpPr>
          <p:cNvPr id="18" name="Icon badge"/>
          <p:cNvSpPr/>
          <p:nvPr/>
        </p:nvSpPr>
        <p:spPr>
          <a:xfrm>
            <a:off x="6409944" y="1572768"/>
            <a:ext cx="566928" cy="566928"/>
          </a:xfrm>
          <a:prstGeom prst="ellipse">
            <a:avLst/>
          </a:prstGeom>
          <a:solidFill>
            <a:schemeClr val="accent1"/>
          </a:solidFill>
          <a:ln w="12700">
            <a:solidFill>
              <a:schemeClr val="accent1"/>
            </a:solidFill>
            <a:prstDash val="solid"/>
          </a:ln>
        </p:spPr>
      </p:sp>
      <p:pic>
        <p:nvPicPr>
          <p:cNvPr id="19" name="Image 2" descr="icon">    </p:cNvPr>
          <p:cNvPicPr>
            <a:picLocks noChangeAspect="1"/>
          </p:cNvPicPr>
          <p:nvPr/>
        </p:nvPicPr>
        <p:blipFill>
          <a:blip r:embed="rId3"/>
          <a:stretch>
            <a:fillRect/>
          </a:stretch>
        </p:blipFill>
        <p:spPr>
          <a:xfrm>
            <a:off x="6557345" y="1720169"/>
            <a:ext cx="272125" cy="272125"/>
          </a:xfrm>
          <a:prstGeom prst="rect">
            <a:avLst/>
          </a:prstGeom>
        </p:spPr>
      </p:pic>
      <p:sp>
        <p:nvSpPr>
          <p:cNvPr id="20" name="Text 15"/>
          <p:cNvSpPr txBox="1"/>
          <p:nvPr/>
        </p:nvSpPr>
        <p:spPr>
          <a:xfrm>
            <a:off x="7095744" y="1627632"/>
            <a:ext cx="1691640" cy="4572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restaurants.csv</a:t>
            </a:r>
            <a:endParaRPr lang="en-US" sz="1500" dirty="0"/>
          </a:p>
        </p:txBody>
      </p:sp>
      <p:sp>
        <p:nvSpPr>
          <p:cNvPr id="21" name="Text 16"/>
          <p:cNvSpPr txBox="1"/>
          <p:nvPr/>
        </p:nvSpPr>
        <p:spPr>
          <a:xfrm>
            <a:off x="6409944" y="2331720"/>
            <a:ext cx="2194560" cy="73152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250</a:t>
            </a:r>
            <a:endParaRPr lang="en-US" sz="4400" dirty="0"/>
          </a:p>
        </p:txBody>
      </p:sp>
      <p:sp>
        <p:nvSpPr>
          <p:cNvPr id="22" name="Text 17"/>
          <p:cNvSpPr txBox="1"/>
          <p:nvPr/>
        </p:nvSpPr>
        <p:spPr>
          <a:xfrm>
            <a:off x="6409944" y="3063240"/>
            <a:ext cx="2194560" cy="32004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rows  •  11 columns</a:t>
            </a:r>
            <a:endParaRPr lang="en-US" sz="1400" dirty="0"/>
          </a:p>
        </p:txBody>
      </p:sp>
      <p:sp>
        <p:nvSpPr>
          <p:cNvPr id="23" name="Text 18"/>
          <p:cNvSpPr txBox="1"/>
          <p:nvPr/>
        </p:nvSpPr>
        <p:spPr>
          <a:xfrm>
            <a:off x="6409944" y="3520440"/>
            <a:ext cx="2240280" cy="15544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restaurant_id, restaurant_name, city, primary_cuisine, restaurant_rating, online_delivery …</a:t>
            </a:r>
            <a:endParaRPr lang="en-US" sz="1200" dirty="0"/>
          </a:p>
        </p:txBody>
      </p:sp>
      <p:sp>
        <p:nvSpPr>
          <p:cNvPr id="24" name="Card"/>
          <p:cNvSpPr/>
          <p:nvPr/>
        </p:nvSpPr>
        <p:spPr>
          <a:xfrm>
            <a:off x="8997696" y="1371600"/>
            <a:ext cx="2651760" cy="3840480"/>
          </a:xfrm>
          <a:prstGeom prst="roundRect">
            <a:avLst>
              <a:gd name="adj" fmla="val 4138"/>
            </a:avLst>
          </a:prstGeom>
          <a:solidFill>
            <a:schemeClr val="bg2"/>
          </a:solidFill>
          <a:ln w="12700">
            <a:solidFill>
              <a:schemeClr val="bg2"/>
            </a:solidFill>
            <a:prstDash val="solid"/>
          </a:ln>
        </p:spPr>
      </p:sp>
      <p:sp>
        <p:nvSpPr>
          <p:cNvPr id="25" name="Icon badge"/>
          <p:cNvSpPr/>
          <p:nvPr/>
        </p:nvSpPr>
        <p:spPr>
          <a:xfrm>
            <a:off x="9226296" y="1572768"/>
            <a:ext cx="566928" cy="566928"/>
          </a:xfrm>
          <a:prstGeom prst="ellipse">
            <a:avLst/>
          </a:prstGeom>
          <a:solidFill>
            <a:schemeClr val="accent1"/>
          </a:solidFill>
          <a:ln w="12700">
            <a:solidFill>
              <a:schemeClr val="accent1"/>
            </a:solidFill>
            <a:prstDash val="solid"/>
          </a:ln>
        </p:spPr>
      </p:sp>
      <p:pic>
        <p:nvPicPr>
          <p:cNvPr id="26" name="Image 3" descr="icon">    </p:cNvPr>
          <p:cNvPicPr>
            <a:picLocks noChangeAspect="1"/>
          </p:cNvPicPr>
          <p:nvPr/>
        </p:nvPicPr>
        <p:blipFill>
          <a:blip r:embed="rId4"/>
          <a:stretch>
            <a:fillRect/>
          </a:stretch>
        </p:blipFill>
        <p:spPr>
          <a:xfrm>
            <a:off x="9373697" y="1720169"/>
            <a:ext cx="272125" cy="272125"/>
          </a:xfrm>
          <a:prstGeom prst="rect">
            <a:avLst/>
          </a:prstGeom>
        </p:spPr>
      </p:pic>
      <p:sp>
        <p:nvSpPr>
          <p:cNvPr id="27" name="Text 21"/>
          <p:cNvSpPr txBox="1"/>
          <p:nvPr/>
        </p:nvSpPr>
        <p:spPr>
          <a:xfrm>
            <a:off x="9912096" y="1627632"/>
            <a:ext cx="1691640" cy="4572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reviews.csv</a:t>
            </a:r>
            <a:endParaRPr lang="en-US" sz="1500" dirty="0"/>
          </a:p>
        </p:txBody>
      </p:sp>
      <p:sp>
        <p:nvSpPr>
          <p:cNvPr id="28" name="Text 22"/>
          <p:cNvSpPr txBox="1"/>
          <p:nvPr/>
        </p:nvSpPr>
        <p:spPr>
          <a:xfrm>
            <a:off x="9226296" y="2331720"/>
            <a:ext cx="2194560" cy="73152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4,300</a:t>
            </a:r>
            <a:endParaRPr lang="en-US" sz="4400" dirty="0"/>
          </a:p>
        </p:txBody>
      </p:sp>
      <p:sp>
        <p:nvSpPr>
          <p:cNvPr id="29" name="Text 23"/>
          <p:cNvSpPr txBox="1"/>
          <p:nvPr/>
        </p:nvSpPr>
        <p:spPr>
          <a:xfrm>
            <a:off x="9226296" y="3063240"/>
            <a:ext cx="2194560" cy="32004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rows  •  6 columns</a:t>
            </a:r>
            <a:endParaRPr lang="en-US" sz="1400" dirty="0"/>
          </a:p>
        </p:txBody>
      </p:sp>
      <p:sp>
        <p:nvSpPr>
          <p:cNvPr id="30" name="Text 24"/>
          <p:cNvSpPr txBox="1"/>
          <p:nvPr/>
        </p:nvSpPr>
        <p:spPr>
          <a:xfrm>
            <a:off x="9226296" y="3520440"/>
            <a:ext cx="2240280" cy="15544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review_id, restaurant_id, customer_id, review_date, rating, review_text</a:t>
            </a:r>
            <a:endParaRPr lang="en-US" sz="1200" dirty="0"/>
          </a:p>
        </p:txBody>
      </p:sp>
      <p:sp>
        <p:nvSpPr>
          <p:cNvPr id="31" name="Shape 25"/>
          <p:cNvSpPr/>
          <p:nvPr/>
        </p:nvSpPr>
        <p:spPr>
          <a:xfrm>
            <a:off x="548640" y="5440680"/>
            <a:ext cx="11064240" cy="731520"/>
          </a:xfrm>
          <a:prstGeom prst="roundRect">
            <a:avLst>
              <a:gd name="adj" fmla="val 15000"/>
            </a:avLst>
          </a:prstGeom>
          <a:solidFill>
            <a:schemeClr val="accent2"/>
          </a:solidFill>
          <a:ln w="12700">
            <a:solidFill>
              <a:schemeClr val="accent2"/>
            </a:solidFill>
            <a:prstDash val="solid"/>
          </a:ln>
        </p:spPr>
      </p:sp>
      <p:sp>
        <p:nvSpPr>
          <p:cNvPr id="32" name="Text 26"/>
          <p:cNvSpPr txBox="1"/>
          <p:nvPr/>
        </p:nvSpPr>
        <p:spPr>
          <a:xfrm>
            <a:off x="822960" y="5440680"/>
            <a:ext cx="10515600" cy="73152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17,450 rows  •  31 columns</a:t>
            </a:r>
            <a:pPr indent="0" marL="0">
              <a:buNone/>
            </a:pPr>
            <a:r>
              <a:rPr lang="en-US" sz="1400" dirty="0">
                <a:solidFill>
                  <a:schemeClr val="bg1"/>
                </a:solidFill>
                <a:latin typeface="Calibri" pitchFamily="34" charset="0"/>
                <a:ea typeface="Calibri" pitchFamily="34" charset="-122"/>
                <a:cs typeface="Calibri" pitchFamily="34" charset="-120"/>
              </a:rPr>
              <a:t>   across four CSV files loaded into the MySQL database zomato_analytics (practice dataset)</a:t>
            </a:r>
            <a:endParaRPr lang="en-US" sz="18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Project Workflow</a:t>
            </a:r>
            <a:endParaRPr lang="en-US" sz="3400" dirty="0"/>
          </a:p>
        </p:txBody>
      </p:sp>
      <p:sp>
        <p:nvSpPr>
          <p:cNvPr id="3" name="Card"/>
          <p:cNvSpPr/>
          <p:nvPr/>
        </p:nvSpPr>
        <p:spPr>
          <a:xfrm>
            <a:off x="548640" y="1371600"/>
            <a:ext cx="2011680" cy="2240280"/>
          </a:xfrm>
          <a:prstGeom prst="roundRect">
            <a:avLst>
              <a:gd name="adj" fmla="val 5455"/>
            </a:avLst>
          </a:prstGeom>
          <a:solidFill>
            <a:schemeClr val="bg2"/>
          </a:solidFill>
          <a:ln w="12700">
            <a:solidFill>
              <a:schemeClr val="bg2"/>
            </a:solidFill>
            <a:prstDash val="solid"/>
          </a:ln>
        </p:spPr>
      </p:sp>
      <p:sp>
        <p:nvSpPr>
          <p:cNvPr id="4" name="Shape 2"/>
          <p:cNvSpPr/>
          <p:nvPr/>
        </p:nvSpPr>
        <p:spPr>
          <a:xfrm>
            <a:off x="685800" y="1508760"/>
            <a:ext cx="411480" cy="411480"/>
          </a:xfrm>
          <a:prstGeom prst="ellipse">
            <a:avLst/>
          </a:prstGeom>
          <a:solidFill>
            <a:schemeClr val="accent1"/>
          </a:solidFill>
          <a:ln w="12700">
            <a:solidFill>
              <a:schemeClr val="accent1"/>
            </a:solidFill>
            <a:prstDash val="solid"/>
          </a:ln>
        </p:spPr>
      </p:sp>
      <p:sp>
        <p:nvSpPr>
          <p:cNvPr id="5" name="Text 3"/>
          <p:cNvSpPr txBox="1"/>
          <p:nvPr/>
        </p:nvSpPr>
        <p:spPr>
          <a:xfrm>
            <a:off x="685800" y="1508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6" name="Icon badge"/>
          <p:cNvSpPr/>
          <p:nvPr/>
        </p:nvSpPr>
        <p:spPr>
          <a:xfrm>
            <a:off x="1280160" y="1645920"/>
            <a:ext cx="640080" cy="640080"/>
          </a:xfrm>
          <a:prstGeom prst="ellipse">
            <a:avLst/>
          </a:prstGeom>
          <a:solidFill>
            <a:schemeClr val="accent1"/>
          </a:solidFill>
          <a:ln w="12700">
            <a:solidFill>
              <a:schemeClr val="accent1"/>
            </a:solidFill>
            <a:prstDash val="solid"/>
          </a:ln>
        </p:spPr>
      </p:sp>
      <p:pic>
        <p:nvPicPr>
          <p:cNvPr id="7" name="Image 0" descr="icon">    </p:cNvPr>
          <p:cNvPicPr>
            <a:picLocks noChangeAspect="1"/>
          </p:cNvPicPr>
          <p:nvPr/>
        </p:nvPicPr>
        <p:blipFill>
          <a:blip r:embed="rId1"/>
          <a:stretch>
            <a:fillRect/>
          </a:stretch>
        </p:blipFill>
        <p:spPr>
          <a:xfrm>
            <a:off x="1446581" y="1812341"/>
            <a:ext cx="307238" cy="307238"/>
          </a:xfrm>
          <a:prstGeom prst="rect">
            <a:avLst/>
          </a:prstGeom>
        </p:spPr>
      </p:pic>
      <p:sp>
        <p:nvSpPr>
          <p:cNvPr id="8" name="Text 5"/>
          <p:cNvSpPr txBox="1"/>
          <p:nvPr/>
        </p:nvSpPr>
        <p:spPr>
          <a:xfrm>
            <a:off x="685800" y="2468880"/>
            <a:ext cx="1737360" cy="5943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Industry Selection</a:t>
            </a:r>
            <a:endParaRPr lang="en-US" sz="1500" dirty="0"/>
          </a:p>
        </p:txBody>
      </p:sp>
      <p:sp>
        <p:nvSpPr>
          <p:cNvPr id="9" name="Text 6"/>
          <p:cNvSpPr txBox="1"/>
          <p:nvPr/>
        </p:nvSpPr>
        <p:spPr>
          <a:xfrm>
            <a:off x="685800" y="3090672"/>
            <a:ext cx="1737360" cy="45720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Food delivery marketplace</a:t>
            </a:r>
            <a:endParaRPr lang="en-US" sz="1200" dirty="0"/>
          </a:p>
        </p:txBody>
      </p:sp>
      <p:sp>
        <p:nvSpPr>
          <p:cNvPr id="10" name="Shape 7"/>
          <p:cNvSpPr/>
          <p:nvPr/>
        </p:nvSpPr>
        <p:spPr>
          <a:xfrm>
            <a:off x="2578608" y="2331720"/>
            <a:ext cx="182880" cy="320040"/>
          </a:xfrm>
          <a:prstGeom prst="chevron">
            <a:avLst/>
          </a:prstGeom>
          <a:solidFill>
            <a:schemeClr val="accent1"/>
          </a:solidFill>
          <a:ln w="12700">
            <a:solidFill>
              <a:schemeClr val="accent1"/>
            </a:solidFill>
            <a:prstDash val="solid"/>
          </a:ln>
        </p:spPr>
      </p:sp>
      <p:sp>
        <p:nvSpPr>
          <p:cNvPr id="11" name="Card"/>
          <p:cNvSpPr/>
          <p:nvPr/>
        </p:nvSpPr>
        <p:spPr>
          <a:xfrm>
            <a:off x="2788920" y="1371600"/>
            <a:ext cx="2011680" cy="2240280"/>
          </a:xfrm>
          <a:prstGeom prst="roundRect">
            <a:avLst>
              <a:gd name="adj" fmla="val 5455"/>
            </a:avLst>
          </a:prstGeom>
          <a:solidFill>
            <a:schemeClr val="bg2"/>
          </a:solidFill>
          <a:ln w="12700">
            <a:solidFill>
              <a:schemeClr val="bg2"/>
            </a:solidFill>
            <a:prstDash val="solid"/>
          </a:ln>
        </p:spPr>
      </p:sp>
      <p:sp>
        <p:nvSpPr>
          <p:cNvPr id="12" name="Shape 9"/>
          <p:cNvSpPr/>
          <p:nvPr/>
        </p:nvSpPr>
        <p:spPr>
          <a:xfrm>
            <a:off x="2926080" y="1508760"/>
            <a:ext cx="411480" cy="411480"/>
          </a:xfrm>
          <a:prstGeom prst="ellipse">
            <a:avLst/>
          </a:prstGeom>
          <a:solidFill>
            <a:schemeClr val="accent1"/>
          </a:solidFill>
          <a:ln w="12700">
            <a:solidFill>
              <a:schemeClr val="accent1"/>
            </a:solidFill>
            <a:prstDash val="solid"/>
          </a:ln>
        </p:spPr>
      </p:sp>
      <p:sp>
        <p:nvSpPr>
          <p:cNvPr id="13" name="Text 10"/>
          <p:cNvSpPr txBox="1"/>
          <p:nvPr/>
        </p:nvSpPr>
        <p:spPr>
          <a:xfrm>
            <a:off x="2926080" y="1508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4" name="Icon badge"/>
          <p:cNvSpPr/>
          <p:nvPr/>
        </p:nvSpPr>
        <p:spPr>
          <a:xfrm>
            <a:off x="3520440" y="1645920"/>
            <a:ext cx="640080" cy="640080"/>
          </a:xfrm>
          <a:prstGeom prst="ellipse">
            <a:avLst/>
          </a:prstGeom>
          <a:solidFill>
            <a:schemeClr val="accent1"/>
          </a:solidFill>
          <a:ln w="12700">
            <a:solidFill>
              <a:schemeClr val="accent1"/>
            </a:solidFill>
            <a:prstDash val="solid"/>
          </a:ln>
        </p:spPr>
      </p:sp>
      <p:pic>
        <p:nvPicPr>
          <p:cNvPr id="15" name="Image 1" descr="icon">    </p:cNvPr>
          <p:cNvPicPr>
            <a:picLocks noChangeAspect="1"/>
          </p:cNvPicPr>
          <p:nvPr/>
        </p:nvPicPr>
        <p:blipFill>
          <a:blip r:embed="rId2"/>
          <a:stretch>
            <a:fillRect/>
          </a:stretch>
        </p:blipFill>
        <p:spPr>
          <a:xfrm>
            <a:off x="3686861" y="1812341"/>
            <a:ext cx="307238" cy="307238"/>
          </a:xfrm>
          <a:prstGeom prst="rect">
            <a:avLst/>
          </a:prstGeom>
        </p:spPr>
      </p:pic>
      <p:sp>
        <p:nvSpPr>
          <p:cNvPr id="16" name="Text 12"/>
          <p:cNvSpPr txBox="1"/>
          <p:nvPr/>
        </p:nvSpPr>
        <p:spPr>
          <a:xfrm>
            <a:off x="2926080" y="2468880"/>
            <a:ext cx="1737360" cy="5943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Problem Identification</a:t>
            </a:r>
            <a:endParaRPr lang="en-US" sz="1500" dirty="0"/>
          </a:p>
        </p:txBody>
      </p:sp>
      <p:sp>
        <p:nvSpPr>
          <p:cNvPr id="17" name="Text 13"/>
          <p:cNvSpPr txBox="1"/>
          <p:nvPr/>
        </p:nvSpPr>
        <p:spPr>
          <a:xfrm>
            <a:off x="2926080" y="3090672"/>
            <a:ext cx="1737360" cy="45720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Scattered order and review data</a:t>
            </a:r>
            <a:endParaRPr lang="en-US" sz="1200" dirty="0"/>
          </a:p>
        </p:txBody>
      </p:sp>
      <p:sp>
        <p:nvSpPr>
          <p:cNvPr id="18" name="Shape 14"/>
          <p:cNvSpPr/>
          <p:nvPr/>
        </p:nvSpPr>
        <p:spPr>
          <a:xfrm>
            <a:off x="4818888" y="2331720"/>
            <a:ext cx="182880" cy="320040"/>
          </a:xfrm>
          <a:prstGeom prst="chevron">
            <a:avLst/>
          </a:prstGeom>
          <a:solidFill>
            <a:schemeClr val="accent1"/>
          </a:solidFill>
          <a:ln w="12700">
            <a:solidFill>
              <a:schemeClr val="accent1"/>
            </a:solidFill>
            <a:prstDash val="solid"/>
          </a:ln>
        </p:spPr>
      </p:sp>
      <p:sp>
        <p:nvSpPr>
          <p:cNvPr id="19" name="Card"/>
          <p:cNvSpPr/>
          <p:nvPr/>
        </p:nvSpPr>
        <p:spPr>
          <a:xfrm>
            <a:off x="5029200" y="1371600"/>
            <a:ext cx="2011680" cy="2240280"/>
          </a:xfrm>
          <a:prstGeom prst="roundRect">
            <a:avLst>
              <a:gd name="adj" fmla="val 5455"/>
            </a:avLst>
          </a:prstGeom>
          <a:solidFill>
            <a:schemeClr val="bg2"/>
          </a:solidFill>
          <a:ln w="12700">
            <a:solidFill>
              <a:schemeClr val="bg2"/>
            </a:solidFill>
            <a:prstDash val="solid"/>
          </a:ln>
        </p:spPr>
      </p:sp>
      <p:sp>
        <p:nvSpPr>
          <p:cNvPr id="20" name="Shape 16"/>
          <p:cNvSpPr/>
          <p:nvPr/>
        </p:nvSpPr>
        <p:spPr>
          <a:xfrm>
            <a:off x="5166360" y="1508760"/>
            <a:ext cx="411480" cy="411480"/>
          </a:xfrm>
          <a:prstGeom prst="ellipse">
            <a:avLst/>
          </a:prstGeom>
          <a:solidFill>
            <a:schemeClr val="accent1"/>
          </a:solidFill>
          <a:ln w="12700">
            <a:solidFill>
              <a:schemeClr val="accent1"/>
            </a:solidFill>
            <a:prstDash val="solid"/>
          </a:ln>
        </p:spPr>
      </p:sp>
      <p:sp>
        <p:nvSpPr>
          <p:cNvPr id="21" name="Text 17"/>
          <p:cNvSpPr txBox="1"/>
          <p:nvPr/>
        </p:nvSpPr>
        <p:spPr>
          <a:xfrm>
            <a:off x="5166360" y="1508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22" name="Icon badge"/>
          <p:cNvSpPr/>
          <p:nvPr/>
        </p:nvSpPr>
        <p:spPr>
          <a:xfrm>
            <a:off x="5760720" y="1645920"/>
            <a:ext cx="640080" cy="640080"/>
          </a:xfrm>
          <a:prstGeom prst="ellipse">
            <a:avLst/>
          </a:prstGeom>
          <a:solidFill>
            <a:schemeClr val="accent1"/>
          </a:solidFill>
          <a:ln w="12700">
            <a:solidFill>
              <a:schemeClr val="accent1"/>
            </a:solidFill>
            <a:prstDash val="solid"/>
          </a:ln>
        </p:spPr>
      </p:sp>
      <p:pic>
        <p:nvPicPr>
          <p:cNvPr id="23" name="Image 2" descr="icon">    </p:cNvPr>
          <p:cNvPicPr>
            <a:picLocks noChangeAspect="1"/>
          </p:cNvPicPr>
          <p:nvPr/>
        </p:nvPicPr>
        <p:blipFill>
          <a:blip r:embed="rId3"/>
          <a:stretch>
            <a:fillRect/>
          </a:stretch>
        </p:blipFill>
        <p:spPr>
          <a:xfrm>
            <a:off x="5927141" y="1812341"/>
            <a:ext cx="307238" cy="307238"/>
          </a:xfrm>
          <a:prstGeom prst="rect">
            <a:avLst/>
          </a:prstGeom>
        </p:spPr>
      </p:pic>
      <p:sp>
        <p:nvSpPr>
          <p:cNvPr id="24" name="Text 19"/>
          <p:cNvSpPr txBox="1"/>
          <p:nvPr/>
        </p:nvSpPr>
        <p:spPr>
          <a:xfrm>
            <a:off x="5166360" y="2468880"/>
            <a:ext cx="1737360" cy="5943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Dataset Collection</a:t>
            </a:r>
            <a:endParaRPr lang="en-US" sz="1500" dirty="0"/>
          </a:p>
        </p:txBody>
      </p:sp>
      <p:sp>
        <p:nvSpPr>
          <p:cNvPr id="25" name="Text 20"/>
          <p:cNvSpPr txBox="1"/>
          <p:nvPr/>
        </p:nvSpPr>
        <p:spPr>
          <a:xfrm>
            <a:off x="5166360" y="3090672"/>
            <a:ext cx="1737360" cy="45720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Four CSV files</a:t>
            </a:r>
            <a:endParaRPr lang="en-US" sz="1200" dirty="0"/>
          </a:p>
        </p:txBody>
      </p:sp>
      <p:sp>
        <p:nvSpPr>
          <p:cNvPr id="26" name="Shape 21"/>
          <p:cNvSpPr/>
          <p:nvPr/>
        </p:nvSpPr>
        <p:spPr>
          <a:xfrm>
            <a:off x="7059168" y="2331720"/>
            <a:ext cx="182880" cy="320040"/>
          </a:xfrm>
          <a:prstGeom prst="chevron">
            <a:avLst/>
          </a:prstGeom>
          <a:solidFill>
            <a:schemeClr val="accent1"/>
          </a:solidFill>
          <a:ln w="12700">
            <a:solidFill>
              <a:schemeClr val="accent1"/>
            </a:solidFill>
            <a:prstDash val="solid"/>
          </a:ln>
        </p:spPr>
      </p:sp>
      <p:sp>
        <p:nvSpPr>
          <p:cNvPr id="27" name="Card"/>
          <p:cNvSpPr/>
          <p:nvPr/>
        </p:nvSpPr>
        <p:spPr>
          <a:xfrm>
            <a:off x="7269480" y="1371600"/>
            <a:ext cx="2011680" cy="2240280"/>
          </a:xfrm>
          <a:prstGeom prst="roundRect">
            <a:avLst>
              <a:gd name="adj" fmla="val 5455"/>
            </a:avLst>
          </a:prstGeom>
          <a:solidFill>
            <a:schemeClr val="bg2"/>
          </a:solidFill>
          <a:ln w="12700">
            <a:solidFill>
              <a:schemeClr val="bg2"/>
            </a:solidFill>
            <a:prstDash val="solid"/>
          </a:ln>
        </p:spPr>
      </p:sp>
      <p:sp>
        <p:nvSpPr>
          <p:cNvPr id="28" name="Shape 23"/>
          <p:cNvSpPr/>
          <p:nvPr/>
        </p:nvSpPr>
        <p:spPr>
          <a:xfrm>
            <a:off x="7406640" y="1508760"/>
            <a:ext cx="411480" cy="411480"/>
          </a:xfrm>
          <a:prstGeom prst="ellipse">
            <a:avLst/>
          </a:prstGeom>
          <a:solidFill>
            <a:schemeClr val="accent1"/>
          </a:solidFill>
          <a:ln w="12700">
            <a:solidFill>
              <a:schemeClr val="accent1"/>
            </a:solidFill>
            <a:prstDash val="solid"/>
          </a:ln>
        </p:spPr>
      </p:sp>
      <p:sp>
        <p:nvSpPr>
          <p:cNvPr id="29" name="Text 24"/>
          <p:cNvSpPr txBox="1"/>
          <p:nvPr/>
        </p:nvSpPr>
        <p:spPr>
          <a:xfrm>
            <a:off x="7406640" y="1508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30" name="Icon badge"/>
          <p:cNvSpPr/>
          <p:nvPr/>
        </p:nvSpPr>
        <p:spPr>
          <a:xfrm>
            <a:off x="8001000" y="1645920"/>
            <a:ext cx="640080" cy="640080"/>
          </a:xfrm>
          <a:prstGeom prst="ellipse">
            <a:avLst/>
          </a:prstGeom>
          <a:solidFill>
            <a:schemeClr val="accent1"/>
          </a:solidFill>
          <a:ln w="12700">
            <a:solidFill>
              <a:schemeClr val="accent1"/>
            </a:solidFill>
            <a:prstDash val="solid"/>
          </a:ln>
        </p:spPr>
      </p:sp>
      <p:pic>
        <p:nvPicPr>
          <p:cNvPr id="31" name="Image 3" descr="icon">    </p:cNvPr>
          <p:cNvPicPr>
            <a:picLocks noChangeAspect="1"/>
          </p:cNvPicPr>
          <p:nvPr/>
        </p:nvPicPr>
        <p:blipFill>
          <a:blip r:embed="rId4"/>
          <a:stretch>
            <a:fillRect/>
          </a:stretch>
        </p:blipFill>
        <p:spPr>
          <a:xfrm>
            <a:off x="8167421" y="1812341"/>
            <a:ext cx="307238" cy="307238"/>
          </a:xfrm>
          <a:prstGeom prst="rect">
            <a:avLst/>
          </a:prstGeom>
        </p:spPr>
      </p:pic>
      <p:sp>
        <p:nvSpPr>
          <p:cNvPr id="32" name="Text 26"/>
          <p:cNvSpPr txBox="1"/>
          <p:nvPr/>
        </p:nvSpPr>
        <p:spPr>
          <a:xfrm>
            <a:off x="7406640" y="2468880"/>
            <a:ext cx="1737360" cy="5943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MySQL Database Setup</a:t>
            </a:r>
            <a:endParaRPr lang="en-US" sz="1500" dirty="0"/>
          </a:p>
        </p:txBody>
      </p:sp>
      <p:sp>
        <p:nvSpPr>
          <p:cNvPr id="33" name="Text 27"/>
          <p:cNvSpPr txBox="1"/>
          <p:nvPr/>
        </p:nvSpPr>
        <p:spPr>
          <a:xfrm>
            <a:off x="7406640" y="3090672"/>
            <a:ext cx="1737360" cy="45720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zomato_analytics</a:t>
            </a:r>
            <a:endParaRPr lang="en-US" sz="1200" dirty="0"/>
          </a:p>
        </p:txBody>
      </p:sp>
      <p:sp>
        <p:nvSpPr>
          <p:cNvPr id="34" name="Shape 28"/>
          <p:cNvSpPr/>
          <p:nvPr/>
        </p:nvSpPr>
        <p:spPr>
          <a:xfrm>
            <a:off x="9299448" y="2331720"/>
            <a:ext cx="182880" cy="320040"/>
          </a:xfrm>
          <a:prstGeom prst="chevron">
            <a:avLst/>
          </a:prstGeom>
          <a:solidFill>
            <a:schemeClr val="accent1"/>
          </a:solidFill>
          <a:ln w="12700">
            <a:solidFill>
              <a:schemeClr val="accent1"/>
            </a:solidFill>
            <a:prstDash val="solid"/>
          </a:ln>
        </p:spPr>
      </p:sp>
      <p:sp>
        <p:nvSpPr>
          <p:cNvPr id="35" name="Card"/>
          <p:cNvSpPr/>
          <p:nvPr/>
        </p:nvSpPr>
        <p:spPr>
          <a:xfrm>
            <a:off x="9509760" y="1371600"/>
            <a:ext cx="2011680" cy="2240280"/>
          </a:xfrm>
          <a:prstGeom prst="roundRect">
            <a:avLst>
              <a:gd name="adj" fmla="val 5455"/>
            </a:avLst>
          </a:prstGeom>
          <a:solidFill>
            <a:schemeClr val="bg2"/>
          </a:solidFill>
          <a:ln w="12700">
            <a:solidFill>
              <a:schemeClr val="bg2"/>
            </a:solidFill>
            <a:prstDash val="solid"/>
          </a:ln>
        </p:spPr>
      </p:sp>
      <p:sp>
        <p:nvSpPr>
          <p:cNvPr id="36" name="Shape 30"/>
          <p:cNvSpPr/>
          <p:nvPr/>
        </p:nvSpPr>
        <p:spPr>
          <a:xfrm>
            <a:off x="9646920" y="1508760"/>
            <a:ext cx="411480" cy="411480"/>
          </a:xfrm>
          <a:prstGeom prst="ellipse">
            <a:avLst/>
          </a:prstGeom>
          <a:solidFill>
            <a:schemeClr val="accent1"/>
          </a:solidFill>
          <a:ln w="12700">
            <a:solidFill>
              <a:schemeClr val="accent1"/>
            </a:solidFill>
            <a:prstDash val="solid"/>
          </a:ln>
        </p:spPr>
      </p:sp>
      <p:sp>
        <p:nvSpPr>
          <p:cNvPr id="37" name="Text 31"/>
          <p:cNvSpPr txBox="1"/>
          <p:nvPr/>
        </p:nvSpPr>
        <p:spPr>
          <a:xfrm>
            <a:off x="9646920" y="1508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5</a:t>
            </a:r>
            <a:endParaRPr lang="en-US" sz="1400" dirty="0"/>
          </a:p>
        </p:txBody>
      </p:sp>
      <p:sp>
        <p:nvSpPr>
          <p:cNvPr id="38" name="Icon badge"/>
          <p:cNvSpPr/>
          <p:nvPr/>
        </p:nvSpPr>
        <p:spPr>
          <a:xfrm>
            <a:off x="10241280" y="1645920"/>
            <a:ext cx="640080" cy="640080"/>
          </a:xfrm>
          <a:prstGeom prst="ellipse">
            <a:avLst/>
          </a:prstGeom>
          <a:solidFill>
            <a:schemeClr val="accent1"/>
          </a:solidFill>
          <a:ln w="12700">
            <a:solidFill>
              <a:schemeClr val="accent1"/>
            </a:solidFill>
            <a:prstDash val="solid"/>
          </a:ln>
        </p:spPr>
      </p:sp>
      <p:pic>
        <p:nvPicPr>
          <p:cNvPr id="39" name="Image 4" descr="icon">    </p:cNvPr>
          <p:cNvPicPr>
            <a:picLocks noChangeAspect="1"/>
          </p:cNvPicPr>
          <p:nvPr/>
        </p:nvPicPr>
        <p:blipFill>
          <a:blip r:embed="rId5"/>
          <a:stretch>
            <a:fillRect/>
          </a:stretch>
        </p:blipFill>
        <p:spPr>
          <a:xfrm>
            <a:off x="10407701" y="1812341"/>
            <a:ext cx="307238" cy="307238"/>
          </a:xfrm>
          <a:prstGeom prst="rect">
            <a:avLst/>
          </a:prstGeom>
        </p:spPr>
      </p:pic>
      <p:sp>
        <p:nvSpPr>
          <p:cNvPr id="40" name="Text 33"/>
          <p:cNvSpPr txBox="1"/>
          <p:nvPr/>
        </p:nvSpPr>
        <p:spPr>
          <a:xfrm>
            <a:off x="9646920" y="2468880"/>
            <a:ext cx="1737360" cy="5943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Cleaning &amp; Transformation</a:t>
            </a:r>
            <a:endParaRPr lang="en-US" sz="1500" dirty="0"/>
          </a:p>
        </p:txBody>
      </p:sp>
      <p:sp>
        <p:nvSpPr>
          <p:cNvPr id="41" name="Text 34"/>
          <p:cNvSpPr txBox="1"/>
          <p:nvPr/>
        </p:nvSpPr>
        <p:spPr>
          <a:xfrm>
            <a:off x="9646920" y="3090672"/>
            <a:ext cx="1737360" cy="45720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Using SQL</a:t>
            </a:r>
            <a:endParaRPr lang="en-US" sz="1200" dirty="0"/>
          </a:p>
        </p:txBody>
      </p:sp>
      <p:sp>
        <p:nvSpPr>
          <p:cNvPr id="42" name="Card"/>
          <p:cNvSpPr/>
          <p:nvPr/>
        </p:nvSpPr>
        <p:spPr>
          <a:xfrm>
            <a:off x="548640" y="3886200"/>
            <a:ext cx="2011680" cy="2240280"/>
          </a:xfrm>
          <a:prstGeom prst="roundRect">
            <a:avLst>
              <a:gd name="adj" fmla="val 5455"/>
            </a:avLst>
          </a:prstGeom>
          <a:solidFill>
            <a:schemeClr val="bg2"/>
          </a:solidFill>
          <a:ln w="12700">
            <a:solidFill>
              <a:schemeClr val="bg2"/>
            </a:solidFill>
            <a:prstDash val="solid"/>
          </a:ln>
        </p:spPr>
      </p:sp>
      <p:sp>
        <p:nvSpPr>
          <p:cNvPr id="43" name="Shape 36"/>
          <p:cNvSpPr/>
          <p:nvPr/>
        </p:nvSpPr>
        <p:spPr>
          <a:xfrm>
            <a:off x="685800" y="4023360"/>
            <a:ext cx="411480" cy="411480"/>
          </a:xfrm>
          <a:prstGeom prst="ellipse">
            <a:avLst/>
          </a:prstGeom>
          <a:solidFill>
            <a:schemeClr val="accent1"/>
          </a:solidFill>
          <a:ln w="12700">
            <a:solidFill>
              <a:schemeClr val="accent1"/>
            </a:solidFill>
            <a:prstDash val="solid"/>
          </a:ln>
        </p:spPr>
      </p:sp>
      <p:sp>
        <p:nvSpPr>
          <p:cNvPr id="44" name="Text 37"/>
          <p:cNvSpPr txBox="1"/>
          <p:nvPr/>
        </p:nvSpPr>
        <p:spPr>
          <a:xfrm>
            <a:off x="685800" y="40233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6</a:t>
            </a:r>
            <a:endParaRPr lang="en-US" sz="1400" dirty="0"/>
          </a:p>
        </p:txBody>
      </p:sp>
      <p:sp>
        <p:nvSpPr>
          <p:cNvPr id="45" name="Icon badge"/>
          <p:cNvSpPr/>
          <p:nvPr/>
        </p:nvSpPr>
        <p:spPr>
          <a:xfrm>
            <a:off x="1280160" y="4160520"/>
            <a:ext cx="640080" cy="640080"/>
          </a:xfrm>
          <a:prstGeom prst="ellipse">
            <a:avLst/>
          </a:prstGeom>
          <a:solidFill>
            <a:schemeClr val="accent1"/>
          </a:solidFill>
          <a:ln w="12700">
            <a:solidFill>
              <a:schemeClr val="accent1"/>
            </a:solidFill>
            <a:prstDash val="solid"/>
          </a:ln>
        </p:spPr>
      </p:sp>
      <p:pic>
        <p:nvPicPr>
          <p:cNvPr id="46" name="Image 5" descr="icon">    </p:cNvPr>
          <p:cNvPicPr>
            <a:picLocks noChangeAspect="1"/>
          </p:cNvPicPr>
          <p:nvPr/>
        </p:nvPicPr>
        <p:blipFill>
          <a:blip r:embed="rId6"/>
          <a:stretch>
            <a:fillRect/>
          </a:stretch>
        </p:blipFill>
        <p:spPr>
          <a:xfrm>
            <a:off x="1446581" y="4326941"/>
            <a:ext cx="307238" cy="307238"/>
          </a:xfrm>
          <a:prstGeom prst="rect">
            <a:avLst/>
          </a:prstGeom>
        </p:spPr>
      </p:pic>
      <p:sp>
        <p:nvSpPr>
          <p:cNvPr id="47" name="Text 39"/>
          <p:cNvSpPr txBox="1"/>
          <p:nvPr/>
        </p:nvSpPr>
        <p:spPr>
          <a:xfrm>
            <a:off x="685800" y="4983480"/>
            <a:ext cx="1737360" cy="5943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SQL Data Analysis</a:t>
            </a:r>
            <a:endParaRPr lang="en-US" sz="1500" dirty="0"/>
          </a:p>
        </p:txBody>
      </p:sp>
      <p:sp>
        <p:nvSpPr>
          <p:cNvPr id="48" name="Text 40"/>
          <p:cNvSpPr txBox="1"/>
          <p:nvPr/>
        </p:nvSpPr>
        <p:spPr>
          <a:xfrm>
            <a:off x="685800" y="5605272"/>
            <a:ext cx="1737360" cy="45720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Aggregations and joins</a:t>
            </a:r>
            <a:endParaRPr lang="en-US" sz="1200" dirty="0"/>
          </a:p>
        </p:txBody>
      </p:sp>
      <p:sp>
        <p:nvSpPr>
          <p:cNvPr id="49" name="Shape 41"/>
          <p:cNvSpPr/>
          <p:nvPr/>
        </p:nvSpPr>
        <p:spPr>
          <a:xfrm>
            <a:off x="2578608" y="4846320"/>
            <a:ext cx="182880" cy="320040"/>
          </a:xfrm>
          <a:prstGeom prst="chevron">
            <a:avLst/>
          </a:prstGeom>
          <a:solidFill>
            <a:schemeClr val="accent1"/>
          </a:solidFill>
          <a:ln w="12700">
            <a:solidFill>
              <a:schemeClr val="accent1"/>
            </a:solidFill>
            <a:prstDash val="solid"/>
          </a:ln>
        </p:spPr>
      </p:sp>
      <p:sp>
        <p:nvSpPr>
          <p:cNvPr id="50" name="Card"/>
          <p:cNvSpPr/>
          <p:nvPr/>
        </p:nvSpPr>
        <p:spPr>
          <a:xfrm>
            <a:off x="2788920" y="3886200"/>
            <a:ext cx="2011680" cy="2240280"/>
          </a:xfrm>
          <a:prstGeom prst="roundRect">
            <a:avLst>
              <a:gd name="adj" fmla="val 5455"/>
            </a:avLst>
          </a:prstGeom>
          <a:solidFill>
            <a:schemeClr val="bg2"/>
          </a:solidFill>
          <a:ln w="12700">
            <a:solidFill>
              <a:schemeClr val="bg2"/>
            </a:solidFill>
            <a:prstDash val="solid"/>
          </a:ln>
        </p:spPr>
      </p:sp>
      <p:sp>
        <p:nvSpPr>
          <p:cNvPr id="51" name="Shape 43"/>
          <p:cNvSpPr/>
          <p:nvPr/>
        </p:nvSpPr>
        <p:spPr>
          <a:xfrm>
            <a:off x="2926080" y="4023360"/>
            <a:ext cx="411480" cy="411480"/>
          </a:xfrm>
          <a:prstGeom prst="ellipse">
            <a:avLst/>
          </a:prstGeom>
          <a:solidFill>
            <a:schemeClr val="accent1"/>
          </a:solidFill>
          <a:ln w="12700">
            <a:solidFill>
              <a:schemeClr val="accent1"/>
            </a:solidFill>
            <a:prstDash val="solid"/>
          </a:ln>
        </p:spPr>
      </p:sp>
      <p:sp>
        <p:nvSpPr>
          <p:cNvPr id="52" name="Text 44"/>
          <p:cNvSpPr txBox="1"/>
          <p:nvPr/>
        </p:nvSpPr>
        <p:spPr>
          <a:xfrm>
            <a:off x="2926080" y="40233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7</a:t>
            </a:r>
            <a:endParaRPr lang="en-US" sz="1400" dirty="0"/>
          </a:p>
        </p:txBody>
      </p:sp>
      <p:sp>
        <p:nvSpPr>
          <p:cNvPr id="53" name="Icon badge"/>
          <p:cNvSpPr/>
          <p:nvPr/>
        </p:nvSpPr>
        <p:spPr>
          <a:xfrm>
            <a:off x="3520440" y="4160520"/>
            <a:ext cx="640080" cy="640080"/>
          </a:xfrm>
          <a:prstGeom prst="ellipse">
            <a:avLst/>
          </a:prstGeom>
          <a:solidFill>
            <a:schemeClr val="accent1"/>
          </a:solidFill>
          <a:ln w="12700">
            <a:solidFill>
              <a:schemeClr val="accent1"/>
            </a:solidFill>
            <a:prstDash val="solid"/>
          </a:ln>
        </p:spPr>
      </p:sp>
      <p:pic>
        <p:nvPicPr>
          <p:cNvPr id="54" name="Image 6" descr="icon">    </p:cNvPr>
          <p:cNvPicPr>
            <a:picLocks noChangeAspect="1"/>
          </p:cNvPicPr>
          <p:nvPr/>
        </p:nvPicPr>
        <p:blipFill>
          <a:blip r:embed="rId7"/>
          <a:stretch>
            <a:fillRect/>
          </a:stretch>
        </p:blipFill>
        <p:spPr>
          <a:xfrm>
            <a:off x="3686861" y="4326941"/>
            <a:ext cx="307238" cy="307238"/>
          </a:xfrm>
          <a:prstGeom prst="rect">
            <a:avLst/>
          </a:prstGeom>
        </p:spPr>
      </p:pic>
      <p:sp>
        <p:nvSpPr>
          <p:cNvPr id="55" name="Text 46"/>
          <p:cNvSpPr txBox="1"/>
          <p:nvPr/>
        </p:nvSpPr>
        <p:spPr>
          <a:xfrm>
            <a:off x="2926080" y="4983480"/>
            <a:ext cx="1737360" cy="5943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Power BI Data Modeling</a:t>
            </a:r>
            <a:endParaRPr lang="en-US" sz="1500" dirty="0"/>
          </a:p>
        </p:txBody>
      </p:sp>
      <p:sp>
        <p:nvSpPr>
          <p:cNvPr id="56" name="Text 47"/>
          <p:cNvSpPr txBox="1"/>
          <p:nvPr/>
        </p:nvSpPr>
        <p:spPr>
          <a:xfrm>
            <a:off x="2926080" y="5605272"/>
            <a:ext cx="1737360" cy="45720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Relationships and DAX</a:t>
            </a:r>
            <a:endParaRPr lang="en-US" sz="1200" dirty="0"/>
          </a:p>
        </p:txBody>
      </p:sp>
      <p:sp>
        <p:nvSpPr>
          <p:cNvPr id="57" name="Shape 48"/>
          <p:cNvSpPr/>
          <p:nvPr/>
        </p:nvSpPr>
        <p:spPr>
          <a:xfrm>
            <a:off x="4818888" y="4846320"/>
            <a:ext cx="182880" cy="320040"/>
          </a:xfrm>
          <a:prstGeom prst="chevron">
            <a:avLst/>
          </a:prstGeom>
          <a:solidFill>
            <a:schemeClr val="accent1"/>
          </a:solidFill>
          <a:ln w="12700">
            <a:solidFill>
              <a:schemeClr val="accent1"/>
            </a:solidFill>
            <a:prstDash val="solid"/>
          </a:ln>
        </p:spPr>
      </p:sp>
      <p:sp>
        <p:nvSpPr>
          <p:cNvPr id="58" name="Card"/>
          <p:cNvSpPr/>
          <p:nvPr/>
        </p:nvSpPr>
        <p:spPr>
          <a:xfrm>
            <a:off x="5029200" y="3886200"/>
            <a:ext cx="2011680" cy="2240280"/>
          </a:xfrm>
          <a:prstGeom prst="roundRect">
            <a:avLst>
              <a:gd name="adj" fmla="val 5455"/>
            </a:avLst>
          </a:prstGeom>
          <a:solidFill>
            <a:schemeClr val="bg2"/>
          </a:solidFill>
          <a:ln w="12700">
            <a:solidFill>
              <a:schemeClr val="bg2"/>
            </a:solidFill>
            <a:prstDash val="solid"/>
          </a:ln>
        </p:spPr>
      </p:sp>
      <p:sp>
        <p:nvSpPr>
          <p:cNvPr id="59" name="Shape 50"/>
          <p:cNvSpPr/>
          <p:nvPr/>
        </p:nvSpPr>
        <p:spPr>
          <a:xfrm>
            <a:off x="5166360" y="4023360"/>
            <a:ext cx="411480" cy="411480"/>
          </a:xfrm>
          <a:prstGeom prst="ellipse">
            <a:avLst/>
          </a:prstGeom>
          <a:solidFill>
            <a:schemeClr val="accent1"/>
          </a:solidFill>
          <a:ln w="12700">
            <a:solidFill>
              <a:schemeClr val="accent1"/>
            </a:solidFill>
            <a:prstDash val="solid"/>
          </a:ln>
        </p:spPr>
      </p:sp>
      <p:sp>
        <p:nvSpPr>
          <p:cNvPr id="60" name="Text 51"/>
          <p:cNvSpPr txBox="1"/>
          <p:nvPr/>
        </p:nvSpPr>
        <p:spPr>
          <a:xfrm>
            <a:off x="5166360" y="40233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8</a:t>
            </a:r>
            <a:endParaRPr lang="en-US" sz="1400" dirty="0"/>
          </a:p>
        </p:txBody>
      </p:sp>
      <p:sp>
        <p:nvSpPr>
          <p:cNvPr id="61" name="Icon badge"/>
          <p:cNvSpPr/>
          <p:nvPr/>
        </p:nvSpPr>
        <p:spPr>
          <a:xfrm>
            <a:off x="5760720" y="4160520"/>
            <a:ext cx="640080" cy="640080"/>
          </a:xfrm>
          <a:prstGeom prst="ellipse">
            <a:avLst/>
          </a:prstGeom>
          <a:solidFill>
            <a:schemeClr val="accent1"/>
          </a:solidFill>
          <a:ln w="12700">
            <a:solidFill>
              <a:schemeClr val="accent1"/>
            </a:solidFill>
            <a:prstDash val="solid"/>
          </a:ln>
        </p:spPr>
      </p:sp>
      <p:pic>
        <p:nvPicPr>
          <p:cNvPr id="62" name="Image 7" descr="icon">    </p:cNvPr>
          <p:cNvPicPr>
            <a:picLocks noChangeAspect="1"/>
          </p:cNvPicPr>
          <p:nvPr/>
        </p:nvPicPr>
        <p:blipFill>
          <a:blip r:embed="rId8"/>
          <a:stretch>
            <a:fillRect/>
          </a:stretch>
        </p:blipFill>
        <p:spPr>
          <a:xfrm>
            <a:off x="5927141" y="4326941"/>
            <a:ext cx="307238" cy="307238"/>
          </a:xfrm>
          <a:prstGeom prst="rect">
            <a:avLst/>
          </a:prstGeom>
        </p:spPr>
      </p:pic>
      <p:sp>
        <p:nvSpPr>
          <p:cNvPr id="63" name="Text 53"/>
          <p:cNvSpPr txBox="1"/>
          <p:nvPr/>
        </p:nvSpPr>
        <p:spPr>
          <a:xfrm>
            <a:off x="5166360" y="4983480"/>
            <a:ext cx="1737360" cy="5943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Dashboard Development</a:t>
            </a:r>
            <a:endParaRPr lang="en-US" sz="1500" dirty="0"/>
          </a:p>
        </p:txBody>
      </p:sp>
      <p:sp>
        <p:nvSpPr>
          <p:cNvPr id="64" name="Text 54"/>
          <p:cNvSpPr txBox="1"/>
          <p:nvPr/>
        </p:nvSpPr>
        <p:spPr>
          <a:xfrm>
            <a:off x="5166360" y="5605272"/>
            <a:ext cx="1737360" cy="45720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Five report pages</a:t>
            </a:r>
            <a:endParaRPr lang="en-US" sz="1200" dirty="0"/>
          </a:p>
        </p:txBody>
      </p:sp>
      <p:sp>
        <p:nvSpPr>
          <p:cNvPr id="65" name="Shape 55"/>
          <p:cNvSpPr/>
          <p:nvPr/>
        </p:nvSpPr>
        <p:spPr>
          <a:xfrm>
            <a:off x="7059168" y="4846320"/>
            <a:ext cx="182880" cy="320040"/>
          </a:xfrm>
          <a:prstGeom prst="chevron">
            <a:avLst/>
          </a:prstGeom>
          <a:solidFill>
            <a:schemeClr val="accent1"/>
          </a:solidFill>
          <a:ln w="12700">
            <a:solidFill>
              <a:schemeClr val="accent1"/>
            </a:solidFill>
            <a:prstDash val="solid"/>
          </a:ln>
        </p:spPr>
      </p:sp>
      <p:sp>
        <p:nvSpPr>
          <p:cNvPr id="66" name="Card"/>
          <p:cNvSpPr/>
          <p:nvPr/>
        </p:nvSpPr>
        <p:spPr>
          <a:xfrm>
            <a:off x="7269480" y="3886200"/>
            <a:ext cx="2011680" cy="2240280"/>
          </a:xfrm>
          <a:prstGeom prst="roundRect">
            <a:avLst>
              <a:gd name="adj" fmla="val 5455"/>
            </a:avLst>
          </a:prstGeom>
          <a:solidFill>
            <a:schemeClr val="accent1"/>
          </a:solidFill>
          <a:ln w="12700">
            <a:solidFill>
              <a:schemeClr val="accent1"/>
            </a:solidFill>
            <a:prstDash val="solid"/>
          </a:ln>
        </p:spPr>
      </p:sp>
      <p:sp>
        <p:nvSpPr>
          <p:cNvPr id="67" name="Shape 57"/>
          <p:cNvSpPr/>
          <p:nvPr/>
        </p:nvSpPr>
        <p:spPr>
          <a:xfrm>
            <a:off x="7406640" y="4023360"/>
            <a:ext cx="411480" cy="411480"/>
          </a:xfrm>
          <a:prstGeom prst="ellipse">
            <a:avLst/>
          </a:prstGeom>
          <a:solidFill>
            <a:schemeClr val="bg1"/>
          </a:solidFill>
          <a:ln w="12700">
            <a:solidFill>
              <a:schemeClr val="bg1"/>
            </a:solidFill>
            <a:prstDash val="solid"/>
          </a:ln>
        </p:spPr>
      </p:sp>
      <p:sp>
        <p:nvSpPr>
          <p:cNvPr id="68" name="Text 58"/>
          <p:cNvSpPr txBox="1"/>
          <p:nvPr/>
        </p:nvSpPr>
        <p:spPr>
          <a:xfrm>
            <a:off x="7406640" y="4023360"/>
            <a:ext cx="411480" cy="411480"/>
          </a:xfrm>
          <a:prstGeom prst="rect">
            <a:avLst/>
          </a:prstGeom>
          <a:noFill/>
          <a:ln/>
        </p:spPr>
        <p:txBody>
          <a:bodyPr wrap="square" lIns="0" tIns="0" rIns="0" bIns="0" rtlCol="0" anchor="ctr"/>
          <a:lstStyle/>
          <a:p>
            <a:pPr algn="ctr" indent="0" marL="0">
              <a:buNone/>
            </a:pPr>
            <a:r>
              <a:rPr lang="en-US" sz="1400" b="1" dirty="0">
                <a:solidFill>
                  <a:schemeClr val="accent1"/>
                </a:solidFill>
                <a:latin typeface="Calibri" pitchFamily="34" charset="0"/>
                <a:ea typeface="Calibri" pitchFamily="34" charset="-122"/>
                <a:cs typeface="Calibri" pitchFamily="34" charset="-120"/>
              </a:rPr>
              <a:t>9</a:t>
            </a:r>
            <a:endParaRPr lang="en-US" sz="1400" dirty="0"/>
          </a:p>
        </p:txBody>
      </p:sp>
      <p:sp>
        <p:nvSpPr>
          <p:cNvPr id="69" name="Icon badge"/>
          <p:cNvSpPr/>
          <p:nvPr/>
        </p:nvSpPr>
        <p:spPr>
          <a:xfrm>
            <a:off x="8001000" y="4160520"/>
            <a:ext cx="640080" cy="640080"/>
          </a:xfrm>
          <a:prstGeom prst="ellipse">
            <a:avLst/>
          </a:prstGeom>
          <a:solidFill>
            <a:schemeClr val="accent2"/>
          </a:solidFill>
          <a:ln w="12700">
            <a:solidFill>
              <a:schemeClr val="accent2"/>
            </a:solidFill>
            <a:prstDash val="solid"/>
          </a:ln>
        </p:spPr>
      </p:sp>
      <p:pic>
        <p:nvPicPr>
          <p:cNvPr id="70" name="Image 8" descr="icon">    </p:cNvPr>
          <p:cNvPicPr>
            <a:picLocks noChangeAspect="1"/>
          </p:cNvPicPr>
          <p:nvPr/>
        </p:nvPicPr>
        <p:blipFill>
          <a:blip r:embed="rId9"/>
          <a:stretch>
            <a:fillRect/>
          </a:stretch>
        </p:blipFill>
        <p:spPr>
          <a:xfrm>
            <a:off x="8167421" y="4326941"/>
            <a:ext cx="307238" cy="307238"/>
          </a:xfrm>
          <a:prstGeom prst="rect">
            <a:avLst/>
          </a:prstGeom>
        </p:spPr>
      </p:pic>
      <p:sp>
        <p:nvSpPr>
          <p:cNvPr id="71" name="Text 60"/>
          <p:cNvSpPr txBox="1"/>
          <p:nvPr/>
        </p:nvSpPr>
        <p:spPr>
          <a:xfrm>
            <a:off x="7406640" y="4983480"/>
            <a:ext cx="1737360" cy="594360"/>
          </a:xfrm>
          <a:prstGeom prst="rect">
            <a:avLst/>
          </a:prstGeom>
          <a:noFill/>
          <a:ln/>
        </p:spPr>
        <p:txBody>
          <a:bodyPr wrap="square" lIns="0" tIns="0" rIns="0" bIns="0" rtlCol="0" anchor="t"/>
          <a:lstStyle/>
          <a:p>
            <a:pPr indent="0" marL="0">
              <a:buNone/>
            </a:pPr>
            <a:r>
              <a:rPr lang="en-US" sz="1500" b="1" dirty="0">
                <a:solidFill>
                  <a:schemeClr val="bg1"/>
                </a:solidFill>
                <a:latin typeface="Calibri" pitchFamily="34" charset="0"/>
                <a:ea typeface="Calibri" pitchFamily="34" charset="-122"/>
                <a:cs typeface="Calibri" pitchFamily="34" charset="-120"/>
              </a:rPr>
              <a:t>Insights &amp; Recommendations</a:t>
            </a:r>
            <a:endParaRPr lang="en-US" sz="1500" dirty="0"/>
          </a:p>
        </p:txBody>
      </p:sp>
      <p:sp>
        <p:nvSpPr>
          <p:cNvPr id="72" name="Text 61"/>
          <p:cNvSpPr txBox="1"/>
          <p:nvPr/>
        </p:nvSpPr>
        <p:spPr>
          <a:xfrm>
            <a:off x="7406640" y="5605272"/>
            <a:ext cx="1737360" cy="457200"/>
          </a:xfrm>
          <a:prstGeom prst="rect">
            <a:avLst/>
          </a:prstGeom>
          <a:noFill/>
          <a:ln/>
        </p:spPr>
        <p:txBody>
          <a:bodyPr wrap="square" lIns="0" tIns="0" rIns="0" bIns="0" rtlCol="0" anchor="t"/>
          <a:lstStyle/>
          <a:p>
            <a:pPr indent="0" marL="0">
              <a:buNone/>
            </a:pPr>
            <a:r>
              <a:rPr lang="en-US" sz="1200" dirty="0">
                <a:solidFill>
                  <a:schemeClr val="bg2"/>
                </a:solidFill>
                <a:latin typeface="Calibri" pitchFamily="34" charset="0"/>
                <a:ea typeface="Calibri" pitchFamily="34" charset="-122"/>
                <a:cs typeface="Calibri" pitchFamily="34" charset="-120"/>
              </a:rPr>
              <a:t>Findings and next steps</a:t>
            </a:r>
            <a:endParaRPr lang="en-US" sz="1200" dirty="0"/>
          </a:p>
        </p:txBody>
      </p:sp>
      <p:sp>
        <p:nvSpPr>
          <p:cNvPr id="73" name="Card"/>
          <p:cNvSpPr/>
          <p:nvPr/>
        </p:nvSpPr>
        <p:spPr>
          <a:xfrm>
            <a:off x="9509760" y="3886200"/>
            <a:ext cx="2011680" cy="2240280"/>
          </a:xfrm>
          <a:prstGeom prst="roundRect">
            <a:avLst>
              <a:gd name="adj" fmla="val 5455"/>
            </a:avLst>
          </a:prstGeom>
          <a:solidFill>
            <a:schemeClr val="accent2"/>
          </a:solidFill>
          <a:ln w="12700">
            <a:solidFill>
              <a:schemeClr val="accent2"/>
            </a:solidFill>
            <a:prstDash val="solid"/>
          </a:ln>
        </p:spPr>
      </p:sp>
      <p:sp>
        <p:nvSpPr>
          <p:cNvPr id="74" name="Text 63"/>
          <p:cNvSpPr txBox="1"/>
          <p:nvPr/>
        </p:nvSpPr>
        <p:spPr>
          <a:xfrm>
            <a:off x="9692640" y="4069080"/>
            <a:ext cx="1645920" cy="320040"/>
          </a:xfrm>
          <a:prstGeom prst="rect">
            <a:avLst/>
          </a:prstGeom>
          <a:noFill/>
          <a:ln/>
        </p:spPr>
        <p:txBody>
          <a:bodyPr wrap="square" lIns="0" tIns="0" rIns="0" bIns="0" rtlCol="0" anchor="t"/>
          <a:lstStyle/>
          <a:p>
            <a:pPr indent="0" marL="0">
              <a:buNone/>
            </a:pPr>
            <a:r>
              <a:rPr lang="en-US" sz="1400" b="1" dirty="0">
                <a:solidFill>
                  <a:schemeClr val="bg2"/>
                </a:solidFill>
                <a:latin typeface="Calibri" pitchFamily="34" charset="0"/>
                <a:ea typeface="Calibri" pitchFamily="34" charset="-122"/>
                <a:cs typeface="Calibri" pitchFamily="34" charset="-120"/>
              </a:rPr>
              <a:t>Result</a:t>
            </a:r>
            <a:endParaRPr lang="en-US" sz="1400" dirty="0"/>
          </a:p>
        </p:txBody>
      </p:sp>
      <p:sp>
        <p:nvSpPr>
          <p:cNvPr id="75" name="Text 64"/>
          <p:cNvSpPr txBox="1"/>
          <p:nvPr/>
        </p:nvSpPr>
        <p:spPr>
          <a:xfrm>
            <a:off x="9692640" y="4434840"/>
            <a:ext cx="1691640" cy="128016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5-page interactive Power BI report</a:t>
            </a:r>
            <a:endParaRPr lang="en-US" sz="18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MySQL Database &amp; SQL Analysis</a:t>
            </a:r>
            <a:endParaRPr lang="en-US" sz="3400" dirty="0"/>
          </a:p>
        </p:txBody>
      </p:sp>
      <p:pic>
        <p:nvPicPr>
          <p:cNvPr id="3" name="Image 0" descr="check">    </p:cNvPr>
          <p:cNvPicPr>
            <a:picLocks noChangeAspect="1"/>
          </p:cNvPicPr>
          <p:nvPr/>
        </p:nvPicPr>
        <p:blipFill>
          <a:blip r:embed="rId1"/>
          <a:stretch>
            <a:fillRect/>
          </a:stretch>
        </p:blipFill>
        <p:spPr>
          <a:xfrm>
            <a:off x="548640" y="1481328"/>
            <a:ext cx="347472" cy="347472"/>
          </a:xfrm>
          <a:prstGeom prst="rect">
            <a:avLst/>
          </a:prstGeom>
        </p:spPr>
      </p:pic>
      <p:sp>
        <p:nvSpPr>
          <p:cNvPr id="4" name="Text 1"/>
          <p:cNvSpPr txBox="1"/>
          <p:nvPr/>
        </p:nvSpPr>
        <p:spPr>
          <a:xfrm>
            <a:off x="1097280" y="1371600"/>
            <a:ext cx="448056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Setup</a:t>
            </a:r>
            <a:endParaRPr lang="en-US" sz="1600" dirty="0"/>
          </a:p>
        </p:txBody>
      </p:sp>
      <p:sp>
        <p:nvSpPr>
          <p:cNvPr id="5" name="Text 2"/>
          <p:cNvSpPr txBox="1"/>
          <p:nvPr/>
        </p:nvSpPr>
        <p:spPr>
          <a:xfrm>
            <a:off x="1097280" y="1682496"/>
            <a:ext cx="4480560" cy="36576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CREATE DATABASE / CREATE TABLE for four tables</a:t>
            </a:r>
            <a:endParaRPr lang="en-US" sz="1400" dirty="0"/>
          </a:p>
        </p:txBody>
      </p:sp>
      <p:pic>
        <p:nvPicPr>
          <p:cNvPr id="6" name="Image 1" descr="check">    </p:cNvPr>
          <p:cNvPicPr>
            <a:picLocks noChangeAspect="1"/>
          </p:cNvPicPr>
          <p:nvPr/>
        </p:nvPicPr>
        <p:blipFill>
          <a:blip r:embed="rId2"/>
          <a:stretch>
            <a:fillRect/>
          </a:stretch>
        </p:blipFill>
        <p:spPr>
          <a:xfrm>
            <a:off x="548640" y="2267712"/>
            <a:ext cx="347472" cy="347472"/>
          </a:xfrm>
          <a:prstGeom prst="rect">
            <a:avLst/>
          </a:prstGeom>
        </p:spPr>
      </p:pic>
      <p:sp>
        <p:nvSpPr>
          <p:cNvPr id="7" name="Text 3"/>
          <p:cNvSpPr txBox="1"/>
          <p:nvPr/>
        </p:nvSpPr>
        <p:spPr>
          <a:xfrm>
            <a:off x="1097280" y="2157984"/>
            <a:ext cx="448056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Import</a:t>
            </a:r>
            <a:endParaRPr lang="en-US" sz="1600" dirty="0"/>
          </a:p>
        </p:txBody>
      </p:sp>
      <p:sp>
        <p:nvSpPr>
          <p:cNvPr id="8" name="Text 4"/>
          <p:cNvSpPr txBox="1"/>
          <p:nvPr/>
        </p:nvSpPr>
        <p:spPr>
          <a:xfrm>
            <a:off x="1097280" y="2468880"/>
            <a:ext cx="4480560" cy="36576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Load CSV rows into MySQL</a:t>
            </a:r>
            <a:endParaRPr lang="en-US" sz="1400" dirty="0"/>
          </a:p>
        </p:txBody>
      </p:sp>
      <p:pic>
        <p:nvPicPr>
          <p:cNvPr id="9" name="Image 2" descr="check">    </p:cNvPr>
          <p:cNvPicPr>
            <a:picLocks noChangeAspect="1"/>
          </p:cNvPicPr>
          <p:nvPr/>
        </p:nvPicPr>
        <p:blipFill>
          <a:blip r:embed="rId3"/>
          <a:stretch>
            <a:fillRect/>
          </a:stretch>
        </p:blipFill>
        <p:spPr>
          <a:xfrm>
            <a:off x="548640" y="3054096"/>
            <a:ext cx="347472" cy="347472"/>
          </a:xfrm>
          <a:prstGeom prst="rect">
            <a:avLst/>
          </a:prstGeom>
        </p:spPr>
      </p:pic>
      <p:sp>
        <p:nvSpPr>
          <p:cNvPr id="10" name="Text 5"/>
          <p:cNvSpPr txBox="1"/>
          <p:nvPr/>
        </p:nvSpPr>
        <p:spPr>
          <a:xfrm>
            <a:off x="1097280" y="2944368"/>
            <a:ext cx="448056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Inspect &amp; filter</a:t>
            </a:r>
            <a:endParaRPr lang="en-US" sz="1600" dirty="0"/>
          </a:p>
        </p:txBody>
      </p:sp>
      <p:sp>
        <p:nvSpPr>
          <p:cNvPr id="11" name="Text 6"/>
          <p:cNvSpPr txBox="1"/>
          <p:nvPr/>
        </p:nvSpPr>
        <p:spPr>
          <a:xfrm>
            <a:off x="1097280" y="3255264"/>
            <a:ext cx="4480560" cy="36576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SELECT, WHERE, ORDER BY, LIMIT</a:t>
            </a:r>
            <a:endParaRPr lang="en-US" sz="1400" dirty="0"/>
          </a:p>
        </p:txBody>
      </p:sp>
      <p:pic>
        <p:nvPicPr>
          <p:cNvPr id="12" name="Image 3" descr="check">    </p:cNvPr>
          <p:cNvPicPr>
            <a:picLocks noChangeAspect="1"/>
          </p:cNvPicPr>
          <p:nvPr/>
        </p:nvPicPr>
        <p:blipFill>
          <a:blip r:embed="rId4"/>
          <a:stretch>
            <a:fillRect/>
          </a:stretch>
        </p:blipFill>
        <p:spPr>
          <a:xfrm>
            <a:off x="548640" y="3840480"/>
            <a:ext cx="347472" cy="347472"/>
          </a:xfrm>
          <a:prstGeom prst="rect">
            <a:avLst/>
          </a:prstGeom>
        </p:spPr>
      </p:pic>
      <p:sp>
        <p:nvSpPr>
          <p:cNvPr id="13" name="Text 7"/>
          <p:cNvSpPr txBox="1"/>
          <p:nvPr/>
        </p:nvSpPr>
        <p:spPr>
          <a:xfrm>
            <a:off x="1097280" y="3730752"/>
            <a:ext cx="448056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KPIs</a:t>
            </a:r>
            <a:endParaRPr lang="en-US" sz="1600" dirty="0"/>
          </a:p>
        </p:txBody>
      </p:sp>
      <p:sp>
        <p:nvSpPr>
          <p:cNvPr id="14" name="Text 8"/>
          <p:cNvSpPr txBox="1"/>
          <p:nvPr/>
        </p:nvSpPr>
        <p:spPr>
          <a:xfrm>
            <a:off x="1097280" y="4041648"/>
            <a:ext cx="4480560" cy="36576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COUNT, SUM, AVG aggregates</a:t>
            </a:r>
            <a:endParaRPr lang="en-US" sz="1400" dirty="0"/>
          </a:p>
        </p:txBody>
      </p:sp>
      <p:pic>
        <p:nvPicPr>
          <p:cNvPr id="15" name="Image 4" descr="check">    </p:cNvPr>
          <p:cNvPicPr>
            <a:picLocks noChangeAspect="1"/>
          </p:cNvPicPr>
          <p:nvPr/>
        </p:nvPicPr>
        <p:blipFill>
          <a:blip r:embed="rId5"/>
          <a:stretch>
            <a:fillRect/>
          </a:stretch>
        </p:blipFill>
        <p:spPr>
          <a:xfrm>
            <a:off x="548640" y="4626864"/>
            <a:ext cx="347472" cy="347472"/>
          </a:xfrm>
          <a:prstGeom prst="rect">
            <a:avLst/>
          </a:prstGeom>
        </p:spPr>
      </p:pic>
      <p:sp>
        <p:nvSpPr>
          <p:cNvPr id="16" name="Text 9"/>
          <p:cNvSpPr txBox="1"/>
          <p:nvPr/>
        </p:nvSpPr>
        <p:spPr>
          <a:xfrm>
            <a:off x="1097280" y="4517136"/>
            <a:ext cx="448056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Summaries</a:t>
            </a:r>
            <a:endParaRPr lang="en-US" sz="1600" dirty="0"/>
          </a:p>
        </p:txBody>
      </p:sp>
      <p:sp>
        <p:nvSpPr>
          <p:cNvPr id="17" name="Text 10"/>
          <p:cNvSpPr txBox="1"/>
          <p:nvPr/>
        </p:nvSpPr>
        <p:spPr>
          <a:xfrm>
            <a:off x="1097280" y="4828032"/>
            <a:ext cx="4480560" cy="36576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GROUP BY status, city, cuisine, segment</a:t>
            </a:r>
            <a:endParaRPr lang="en-US" sz="1400" dirty="0"/>
          </a:p>
        </p:txBody>
      </p:sp>
      <p:pic>
        <p:nvPicPr>
          <p:cNvPr id="18" name="Image 5" descr="check">    </p:cNvPr>
          <p:cNvPicPr>
            <a:picLocks noChangeAspect="1"/>
          </p:cNvPicPr>
          <p:nvPr/>
        </p:nvPicPr>
        <p:blipFill>
          <a:blip r:embed="rId6"/>
          <a:stretch>
            <a:fillRect/>
          </a:stretch>
        </p:blipFill>
        <p:spPr>
          <a:xfrm>
            <a:off x="548640" y="5413248"/>
            <a:ext cx="347472" cy="347472"/>
          </a:xfrm>
          <a:prstGeom prst="rect">
            <a:avLst/>
          </a:prstGeom>
        </p:spPr>
      </p:pic>
      <p:sp>
        <p:nvSpPr>
          <p:cNvPr id="19" name="Text 11"/>
          <p:cNvSpPr txBox="1"/>
          <p:nvPr/>
        </p:nvSpPr>
        <p:spPr>
          <a:xfrm>
            <a:off x="1097280" y="5303520"/>
            <a:ext cx="448056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Combine tables</a:t>
            </a:r>
            <a:endParaRPr lang="en-US" sz="1600" dirty="0"/>
          </a:p>
        </p:txBody>
      </p:sp>
      <p:sp>
        <p:nvSpPr>
          <p:cNvPr id="20" name="Text 12"/>
          <p:cNvSpPr txBox="1"/>
          <p:nvPr/>
        </p:nvSpPr>
        <p:spPr>
          <a:xfrm>
            <a:off x="1097280" y="5614416"/>
            <a:ext cx="4480560" cy="36576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JOIN on customer_id and restaurant_id</a:t>
            </a:r>
            <a:endParaRPr lang="en-US" sz="1400" dirty="0"/>
          </a:p>
        </p:txBody>
      </p:sp>
      <p:sp>
        <p:nvSpPr>
          <p:cNvPr id="21" name="Shape 13"/>
          <p:cNvSpPr/>
          <p:nvPr/>
        </p:nvSpPr>
        <p:spPr>
          <a:xfrm>
            <a:off x="5943600" y="1371600"/>
            <a:ext cx="5715000" cy="1828800"/>
          </a:xfrm>
          <a:prstGeom prst="roundRect">
            <a:avLst>
              <a:gd name="adj" fmla="val 6000"/>
            </a:avLst>
          </a:prstGeom>
          <a:solidFill>
            <a:schemeClr val="accent2"/>
          </a:solidFill>
          <a:ln w="12700">
            <a:solidFill>
              <a:schemeClr val="accent2"/>
            </a:solidFill>
            <a:prstDash val="solid"/>
          </a:ln>
        </p:spPr>
      </p:sp>
      <p:sp>
        <p:nvSpPr>
          <p:cNvPr id="22" name="Text 14"/>
          <p:cNvSpPr txBox="1"/>
          <p:nvPr/>
        </p:nvSpPr>
        <p:spPr>
          <a:xfrm>
            <a:off x="6172200" y="1463040"/>
            <a:ext cx="5212080" cy="274320"/>
          </a:xfrm>
          <a:prstGeom prst="rect">
            <a:avLst/>
          </a:prstGeom>
          <a:noFill/>
          <a:ln/>
        </p:spPr>
        <p:txBody>
          <a:bodyPr wrap="square" lIns="0" tIns="0" rIns="0" bIns="0" rtlCol="0" anchor="t"/>
          <a:lstStyle/>
          <a:p>
            <a:pPr indent="0" marL="0">
              <a:buNone/>
            </a:pPr>
            <a:r>
              <a:rPr lang="en-US" sz="1200" b="1" dirty="0">
                <a:solidFill>
                  <a:schemeClr val="accent3"/>
                </a:solidFill>
                <a:latin typeface="Calibri" pitchFamily="34" charset="0"/>
                <a:ea typeface="Calibri" pitchFamily="34" charset="-122"/>
                <a:cs typeface="Calibri" pitchFamily="34" charset="-120"/>
              </a:rPr>
              <a:t>Order status summary</a:t>
            </a:r>
            <a:endParaRPr lang="en-US" sz="1200" dirty="0"/>
          </a:p>
        </p:txBody>
      </p:sp>
      <p:sp>
        <p:nvSpPr>
          <p:cNvPr id="23" name="Text 15"/>
          <p:cNvSpPr txBox="1"/>
          <p:nvPr/>
        </p:nvSpPr>
        <p:spPr>
          <a:xfrm>
            <a:off x="6172200" y="1783080"/>
            <a:ext cx="5303520" cy="137160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SELECT order_status,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COUNT(*) AS order_count,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SUM(order_amount) AS total_order_value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FROM orders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GROUP BY order_status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ORDER BY order_count DESC;</a:t>
            </a:r>
            <a:endParaRPr lang="en-US" sz="1200" dirty="0"/>
          </a:p>
        </p:txBody>
      </p:sp>
      <p:sp>
        <p:nvSpPr>
          <p:cNvPr id="24" name="Shape 16"/>
          <p:cNvSpPr/>
          <p:nvPr/>
        </p:nvSpPr>
        <p:spPr>
          <a:xfrm>
            <a:off x="5943600" y="3429000"/>
            <a:ext cx="5715000" cy="2697480"/>
          </a:xfrm>
          <a:prstGeom prst="roundRect">
            <a:avLst>
              <a:gd name="adj" fmla="val 4068"/>
            </a:avLst>
          </a:prstGeom>
          <a:solidFill>
            <a:schemeClr val="accent2"/>
          </a:solidFill>
          <a:ln w="12700">
            <a:solidFill>
              <a:schemeClr val="accent2"/>
            </a:solidFill>
            <a:prstDash val="solid"/>
          </a:ln>
        </p:spPr>
      </p:sp>
      <p:sp>
        <p:nvSpPr>
          <p:cNvPr id="25" name="Text 17"/>
          <p:cNvSpPr txBox="1"/>
          <p:nvPr/>
        </p:nvSpPr>
        <p:spPr>
          <a:xfrm>
            <a:off x="6172200" y="3520440"/>
            <a:ext cx="5212080" cy="274320"/>
          </a:xfrm>
          <a:prstGeom prst="rect">
            <a:avLst/>
          </a:prstGeom>
          <a:noFill/>
          <a:ln/>
        </p:spPr>
        <p:txBody>
          <a:bodyPr wrap="square" lIns="0" tIns="0" rIns="0" bIns="0" rtlCol="0" anchor="t"/>
          <a:lstStyle/>
          <a:p>
            <a:pPr indent="0" marL="0">
              <a:buNone/>
            </a:pPr>
            <a:r>
              <a:rPr lang="en-US" sz="1200" b="1" dirty="0">
                <a:solidFill>
                  <a:schemeClr val="accent3"/>
                </a:solidFill>
                <a:latin typeface="Calibri" pitchFamily="34" charset="0"/>
                <a:ea typeface="Calibri" pitchFamily="34" charset="-122"/>
                <a:cs typeface="Calibri" pitchFamily="34" charset="-120"/>
              </a:rPr>
              <a:t>Top 10 restaurants by order value (JOIN)</a:t>
            </a:r>
            <a:endParaRPr lang="en-US" sz="1200" dirty="0"/>
          </a:p>
        </p:txBody>
      </p:sp>
      <p:sp>
        <p:nvSpPr>
          <p:cNvPr id="26" name="Text 18"/>
          <p:cNvSpPr txBox="1"/>
          <p:nvPr/>
        </p:nvSpPr>
        <p:spPr>
          <a:xfrm>
            <a:off x="6172200" y="3840480"/>
            <a:ext cx="5303520" cy="219456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SELECT r.restaurant_name,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SUM(o.order_amount) AS total_value,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COUNT(DISTINCT o.order_id) AS total_orders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FROM orders AS o</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JOIN restaurants AS 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ON o.restaurant_id = r.restaurant_id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GROUP BY r.restaurant_name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ORDER BY total_value DESC</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LIMIT 10;</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Power BI Data Preparation &amp; Model</a:t>
            </a:r>
            <a:endParaRPr lang="en-US" sz="3400" dirty="0"/>
          </a:p>
        </p:txBody>
      </p:sp>
      <p:sp>
        <p:nvSpPr>
          <p:cNvPr id="3" name="Icon badge"/>
          <p:cNvSpPr/>
          <p:nvPr/>
        </p:nvSpPr>
        <p:spPr>
          <a:xfrm>
            <a:off x="548640" y="1417320"/>
            <a:ext cx="640080" cy="640080"/>
          </a:xfrm>
          <a:prstGeom prst="ellipse">
            <a:avLst/>
          </a:prstGeom>
          <a:solidFill>
            <a:schemeClr val="accent1"/>
          </a:solidFill>
          <a:ln w="12700">
            <a:solidFill>
              <a:schemeClr val="accent1"/>
            </a:solidFill>
            <a:prstDash val="solid"/>
          </a:ln>
        </p:spPr>
      </p:sp>
      <p:pic>
        <p:nvPicPr>
          <p:cNvPr id="4" name="Image 0" descr="icon">    </p:cNvPr>
          <p:cNvPicPr>
            <a:picLocks noChangeAspect="1"/>
          </p:cNvPicPr>
          <p:nvPr/>
        </p:nvPicPr>
        <p:blipFill>
          <a:blip r:embed="rId1"/>
          <a:stretch>
            <a:fillRect/>
          </a:stretch>
        </p:blipFill>
        <p:spPr>
          <a:xfrm>
            <a:off x="715061" y="1583741"/>
            <a:ext cx="307238" cy="307238"/>
          </a:xfrm>
          <a:prstGeom prst="rect">
            <a:avLst/>
          </a:prstGeom>
        </p:spPr>
      </p:pic>
      <p:sp>
        <p:nvSpPr>
          <p:cNvPr id="5" name="Text 2"/>
          <p:cNvSpPr txBox="1"/>
          <p:nvPr/>
        </p:nvSpPr>
        <p:spPr>
          <a:xfrm>
            <a:off x="1371600" y="1371600"/>
            <a:ext cx="420624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Import</a:t>
            </a:r>
            <a:endParaRPr lang="en-US" sz="1800" dirty="0"/>
          </a:p>
        </p:txBody>
      </p:sp>
      <p:sp>
        <p:nvSpPr>
          <p:cNvPr id="6" name="Text 3"/>
          <p:cNvSpPr txBox="1"/>
          <p:nvPr/>
        </p:nvSpPr>
        <p:spPr>
          <a:xfrm>
            <a:off x="1371600" y="1755648"/>
            <a:ext cx="420624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Load from MySQL or the prepared CSV files</a:t>
            </a:r>
            <a:endParaRPr lang="en-US" sz="1400" dirty="0"/>
          </a:p>
        </p:txBody>
      </p:sp>
      <p:sp>
        <p:nvSpPr>
          <p:cNvPr id="7" name="Icon badge"/>
          <p:cNvSpPr/>
          <p:nvPr/>
        </p:nvSpPr>
        <p:spPr>
          <a:xfrm>
            <a:off x="548640" y="2606040"/>
            <a:ext cx="640080" cy="640080"/>
          </a:xfrm>
          <a:prstGeom prst="ellipse">
            <a:avLst/>
          </a:prstGeom>
          <a:solidFill>
            <a:schemeClr val="accent1"/>
          </a:solidFill>
          <a:ln w="12700">
            <a:solidFill>
              <a:schemeClr val="accent1"/>
            </a:solidFill>
            <a:prstDash val="solid"/>
          </a:ln>
        </p:spPr>
      </p:sp>
      <p:pic>
        <p:nvPicPr>
          <p:cNvPr id="8" name="Image 1" descr="icon">    </p:cNvPr>
          <p:cNvPicPr>
            <a:picLocks noChangeAspect="1"/>
          </p:cNvPicPr>
          <p:nvPr/>
        </p:nvPicPr>
        <p:blipFill>
          <a:blip r:embed="rId2"/>
          <a:stretch>
            <a:fillRect/>
          </a:stretch>
        </p:blipFill>
        <p:spPr>
          <a:xfrm>
            <a:off x="715061" y="2772461"/>
            <a:ext cx="307238" cy="307238"/>
          </a:xfrm>
          <a:prstGeom prst="rect">
            <a:avLst/>
          </a:prstGeom>
        </p:spPr>
      </p:pic>
      <p:sp>
        <p:nvSpPr>
          <p:cNvPr id="9" name="Text 5"/>
          <p:cNvSpPr txBox="1"/>
          <p:nvPr/>
        </p:nvSpPr>
        <p:spPr>
          <a:xfrm>
            <a:off x="1371600" y="2560320"/>
            <a:ext cx="420624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Set data types</a:t>
            </a:r>
            <a:endParaRPr lang="en-US" sz="1800" dirty="0"/>
          </a:p>
        </p:txBody>
      </p:sp>
      <p:sp>
        <p:nvSpPr>
          <p:cNvPr id="10" name="Text 6"/>
          <p:cNvSpPr txBox="1"/>
          <p:nvPr/>
        </p:nvSpPr>
        <p:spPr>
          <a:xfrm>
            <a:off x="1371600" y="2944368"/>
            <a:ext cx="420624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IDs as identifiers, amounts as decimals, dates and times as Date/Time</a:t>
            </a:r>
            <a:endParaRPr lang="en-US" sz="1400" dirty="0"/>
          </a:p>
        </p:txBody>
      </p:sp>
      <p:sp>
        <p:nvSpPr>
          <p:cNvPr id="11" name="Icon badge"/>
          <p:cNvSpPr/>
          <p:nvPr/>
        </p:nvSpPr>
        <p:spPr>
          <a:xfrm>
            <a:off x="548640" y="3794760"/>
            <a:ext cx="640080" cy="640080"/>
          </a:xfrm>
          <a:prstGeom prst="ellipse">
            <a:avLst/>
          </a:prstGeom>
          <a:solidFill>
            <a:schemeClr val="accent1"/>
          </a:solidFill>
          <a:ln w="12700">
            <a:solidFill>
              <a:schemeClr val="accent1"/>
            </a:solidFill>
            <a:prstDash val="solid"/>
          </a:ln>
        </p:spPr>
      </p:sp>
      <p:pic>
        <p:nvPicPr>
          <p:cNvPr id="12" name="Image 2" descr="icon">    </p:cNvPr>
          <p:cNvPicPr>
            <a:picLocks noChangeAspect="1"/>
          </p:cNvPicPr>
          <p:nvPr/>
        </p:nvPicPr>
        <p:blipFill>
          <a:blip r:embed="rId3"/>
          <a:stretch>
            <a:fillRect/>
          </a:stretch>
        </p:blipFill>
        <p:spPr>
          <a:xfrm>
            <a:off x="715061" y="3961181"/>
            <a:ext cx="307238" cy="307238"/>
          </a:xfrm>
          <a:prstGeom prst="rect">
            <a:avLst/>
          </a:prstGeom>
        </p:spPr>
      </p:pic>
      <p:sp>
        <p:nvSpPr>
          <p:cNvPr id="13" name="Text 8"/>
          <p:cNvSpPr txBox="1"/>
          <p:nvPr/>
        </p:nvSpPr>
        <p:spPr>
          <a:xfrm>
            <a:off x="1371600" y="3749040"/>
            <a:ext cx="420624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Clean in Power Query</a:t>
            </a:r>
            <a:endParaRPr lang="en-US" sz="1800" dirty="0"/>
          </a:p>
        </p:txBody>
      </p:sp>
      <p:sp>
        <p:nvSpPr>
          <p:cNvPr id="14" name="Text 9"/>
          <p:cNvSpPr txBox="1"/>
          <p:nvPr/>
        </p:nvSpPr>
        <p:spPr>
          <a:xfrm>
            <a:off x="1371600" y="4133088"/>
            <a:ext cx="420624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Check blanks and inconsistent labels; keep raw data unchanged</a:t>
            </a:r>
            <a:endParaRPr lang="en-US" sz="1400" dirty="0"/>
          </a:p>
        </p:txBody>
      </p:sp>
      <p:sp>
        <p:nvSpPr>
          <p:cNvPr id="15" name="Icon badge"/>
          <p:cNvSpPr/>
          <p:nvPr/>
        </p:nvSpPr>
        <p:spPr>
          <a:xfrm>
            <a:off x="548640" y="4983480"/>
            <a:ext cx="640080" cy="640080"/>
          </a:xfrm>
          <a:prstGeom prst="ellipse">
            <a:avLst/>
          </a:prstGeom>
          <a:solidFill>
            <a:schemeClr val="accent1"/>
          </a:solidFill>
          <a:ln w="12700">
            <a:solidFill>
              <a:schemeClr val="accent1"/>
            </a:solidFill>
            <a:prstDash val="solid"/>
          </a:ln>
        </p:spPr>
      </p:sp>
      <p:pic>
        <p:nvPicPr>
          <p:cNvPr id="16" name="Image 3" descr="icon">    </p:cNvPr>
          <p:cNvPicPr>
            <a:picLocks noChangeAspect="1"/>
          </p:cNvPicPr>
          <p:nvPr/>
        </p:nvPicPr>
        <p:blipFill>
          <a:blip r:embed="rId4"/>
          <a:stretch>
            <a:fillRect/>
          </a:stretch>
        </p:blipFill>
        <p:spPr>
          <a:xfrm>
            <a:off x="715061" y="5149901"/>
            <a:ext cx="307238" cy="307238"/>
          </a:xfrm>
          <a:prstGeom prst="rect">
            <a:avLst/>
          </a:prstGeom>
        </p:spPr>
      </p:pic>
      <p:sp>
        <p:nvSpPr>
          <p:cNvPr id="17" name="Text 11"/>
          <p:cNvSpPr txBox="1"/>
          <p:nvPr/>
        </p:nvSpPr>
        <p:spPr>
          <a:xfrm>
            <a:off x="1371600" y="4937760"/>
            <a:ext cx="420624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Model</a:t>
            </a:r>
            <a:endParaRPr lang="en-US" sz="1800" dirty="0"/>
          </a:p>
        </p:txBody>
      </p:sp>
      <p:sp>
        <p:nvSpPr>
          <p:cNvPr id="18" name="Text 12"/>
          <p:cNvSpPr txBox="1"/>
          <p:nvPr/>
        </p:nvSpPr>
        <p:spPr>
          <a:xfrm>
            <a:off x="1371600" y="5321808"/>
            <a:ext cx="420624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One-to-many relationships plus a date table</a:t>
            </a:r>
            <a:endParaRPr lang="en-US" sz="1400" dirty="0"/>
          </a:p>
        </p:txBody>
      </p:sp>
      <p:sp>
        <p:nvSpPr>
          <p:cNvPr id="19" name="Card"/>
          <p:cNvSpPr/>
          <p:nvPr/>
        </p:nvSpPr>
        <p:spPr>
          <a:xfrm>
            <a:off x="5943600" y="1371600"/>
            <a:ext cx="5715000" cy="4754880"/>
          </a:xfrm>
          <a:prstGeom prst="roundRect">
            <a:avLst>
              <a:gd name="adj" fmla="val 2308"/>
            </a:avLst>
          </a:prstGeom>
          <a:solidFill>
            <a:schemeClr val="bg2"/>
          </a:solidFill>
          <a:ln w="12700">
            <a:solidFill>
              <a:schemeClr val="bg2"/>
            </a:solidFill>
            <a:prstDash val="solid"/>
          </a:ln>
        </p:spPr>
      </p:sp>
      <p:sp>
        <p:nvSpPr>
          <p:cNvPr id="20" name="customers"/>
          <p:cNvSpPr/>
          <p:nvPr/>
        </p:nvSpPr>
        <p:spPr>
          <a:xfrm>
            <a:off x="6217920" y="1600200"/>
            <a:ext cx="1920240" cy="822960"/>
          </a:xfrm>
          <a:prstGeom prst="roundRect">
            <a:avLst>
              <a:gd name="adj" fmla="val 11111"/>
            </a:avLst>
          </a:prstGeom>
          <a:solidFill>
            <a:schemeClr val="bg1"/>
          </a:solidFill>
          <a:ln w="12700">
            <a:solidFill>
              <a:schemeClr val="bg1"/>
            </a:solidFill>
            <a:prstDash val="solid"/>
          </a:ln>
        </p:spPr>
      </p:sp>
      <p:sp>
        <p:nvSpPr>
          <p:cNvPr id="21" name="Text 15"/>
          <p:cNvSpPr txBox="1"/>
          <p:nvPr/>
        </p:nvSpPr>
        <p:spPr>
          <a:xfrm>
            <a:off x="6217920" y="1600200"/>
            <a:ext cx="1920240" cy="8229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customers</a:t>
            </a:r>
            <a:endParaRPr lang="en-US" sz="1500" dirty="0"/>
          </a:p>
          <a:p>
            <a:pPr algn="ctr" indent="0" marL="0">
              <a:buNone/>
            </a:pPr>
            <a:r>
              <a:rPr lang="en-US" sz="1100" dirty="0">
                <a:solidFill>
                  <a:schemeClr val="tx1"/>
                </a:solidFill>
                <a:latin typeface="Calibri" pitchFamily="34" charset="0"/>
                <a:ea typeface="Calibri" pitchFamily="34" charset="-122"/>
                <a:cs typeface="Calibri" pitchFamily="34" charset="-120"/>
              </a:rPr>
              <a:t>dimension</a:t>
            </a:r>
            <a:endParaRPr lang="en-US" sz="1500" dirty="0"/>
          </a:p>
        </p:txBody>
      </p:sp>
      <p:sp>
        <p:nvSpPr>
          <p:cNvPr id="22" name="restaurants"/>
          <p:cNvSpPr/>
          <p:nvPr/>
        </p:nvSpPr>
        <p:spPr>
          <a:xfrm>
            <a:off x="9646920" y="1600200"/>
            <a:ext cx="2011680" cy="822960"/>
          </a:xfrm>
          <a:prstGeom prst="roundRect">
            <a:avLst>
              <a:gd name="adj" fmla="val 11111"/>
            </a:avLst>
          </a:prstGeom>
          <a:solidFill>
            <a:schemeClr val="bg1"/>
          </a:solidFill>
          <a:ln w="12700">
            <a:solidFill>
              <a:schemeClr val="bg1"/>
            </a:solidFill>
            <a:prstDash val="solid"/>
          </a:ln>
        </p:spPr>
      </p:sp>
      <p:sp>
        <p:nvSpPr>
          <p:cNvPr id="23" name="Text 17"/>
          <p:cNvSpPr txBox="1"/>
          <p:nvPr/>
        </p:nvSpPr>
        <p:spPr>
          <a:xfrm>
            <a:off x="9646920" y="1600200"/>
            <a:ext cx="2011680" cy="8229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restaurants</a:t>
            </a:r>
            <a:endParaRPr lang="en-US" sz="1500" dirty="0"/>
          </a:p>
          <a:p>
            <a:pPr algn="ctr" indent="0" marL="0">
              <a:buNone/>
            </a:pPr>
            <a:r>
              <a:rPr lang="en-US" sz="1100" dirty="0">
                <a:solidFill>
                  <a:schemeClr val="tx1"/>
                </a:solidFill>
                <a:latin typeface="Calibri" pitchFamily="34" charset="0"/>
                <a:ea typeface="Calibri" pitchFamily="34" charset="-122"/>
                <a:cs typeface="Calibri" pitchFamily="34" charset="-120"/>
              </a:rPr>
              <a:t>dimension</a:t>
            </a:r>
            <a:endParaRPr lang="en-US" sz="1500" dirty="0"/>
          </a:p>
        </p:txBody>
      </p:sp>
      <p:sp>
        <p:nvSpPr>
          <p:cNvPr id="24" name="orders"/>
          <p:cNvSpPr/>
          <p:nvPr/>
        </p:nvSpPr>
        <p:spPr>
          <a:xfrm>
            <a:off x="7498080" y="3246120"/>
            <a:ext cx="2011680" cy="822960"/>
          </a:xfrm>
          <a:prstGeom prst="roundRect">
            <a:avLst>
              <a:gd name="adj" fmla="val 11111"/>
            </a:avLst>
          </a:prstGeom>
          <a:solidFill>
            <a:schemeClr val="accent1"/>
          </a:solidFill>
          <a:ln w="12700">
            <a:solidFill>
              <a:schemeClr val="accent1"/>
            </a:solidFill>
            <a:prstDash val="solid"/>
          </a:ln>
        </p:spPr>
      </p:sp>
      <p:sp>
        <p:nvSpPr>
          <p:cNvPr id="25" name="Text 19"/>
          <p:cNvSpPr txBox="1"/>
          <p:nvPr/>
        </p:nvSpPr>
        <p:spPr>
          <a:xfrm>
            <a:off x="7498080" y="3246120"/>
            <a:ext cx="2011680" cy="8229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orders</a:t>
            </a:r>
            <a:endParaRPr lang="en-US" sz="1500" dirty="0"/>
          </a:p>
          <a:p>
            <a:pPr algn="ctr" indent="0" marL="0">
              <a:buNone/>
            </a:pPr>
            <a:r>
              <a:rPr lang="en-US" sz="1100" dirty="0">
                <a:solidFill>
                  <a:schemeClr val="bg1"/>
                </a:solidFill>
                <a:latin typeface="Calibri" pitchFamily="34" charset="0"/>
                <a:ea typeface="Calibri" pitchFamily="34" charset="-122"/>
                <a:cs typeface="Calibri" pitchFamily="34" charset="-120"/>
              </a:rPr>
              <a:t>fact table</a:t>
            </a:r>
            <a:endParaRPr lang="en-US" sz="1500" dirty="0"/>
          </a:p>
        </p:txBody>
      </p:sp>
      <p:sp>
        <p:nvSpPr>
          <p:cNvPr id="26" name="DimDate"/>
          <p:cNvSpPr/>
          <p:nvPr/>
        </p:nvSpPr>
        <p:spPr>
          <a:xfrm>
            <a:off x="7498080" y="4983480"/>
            <a:ext cx="2011680" cy="822960"/>
          </a:xfrm>
          <a:prstGeom prst="roundRect">
            <a:avLst>
              <a:gd name="adj" fmla="val 11111"/>
            </a:avLst>
          </a:prstGeom>
          <a:solidFill>
            <a:schemeClr val="bg1"/>
          </a:solidFill>
          <a:ln w="12700">
            <a:solidFill>
              <a:schemeClr val="bg1"/>
            </a:solidFill>
            <a:prstDash val="solid"/>
          </a:ln>
        </p:spPr>
      </p:sp>
      <p:sp>
        <p:nvSpPr>
          <p:cNvPr id="27" name="Text 21"/>
          <p:cNvSpPr txBox="1"/>
          <p:nvPr/>
        </p:nvSpPr>
        <p:spPr>
          <a:xfrm>
            <a:off x="7498080" y="4983480"/>
            <a:ext cx="2011680" cy="8229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DimDate</a:t>
            </a:r>
            <a:endParaRPr lang="en-US" sz="1500" dirty="0"/>
          </a:p>
          <a:p>
            <a:pPr algn="ctr" indent="0" marL="0">
              <a:buNone/>
            </a:pPr>
            <a:r>
              <a:rPr lang="en-US" sz="1100" dirty="0">
                <a:solidFill>
                  <a:schemeClr val="tx1"/>
                </a:solidFill>
                <a:latin typeface="Calibri" pitchFamily="34" charset="0"/>
                <a:ea typeface="Calibri" pitchFamily="34" charset="-122"/>
                <a:cs typeface="Calibri" pitchFamily="34" charset="-120"/>
              </a:rPr>
              <a:t>calendar table</a:t>
            </a:r>
            <a:endParaRPr lang="en-US" sz="1500" dirty="0"/>
          </a:p>
        </p:txBody>
      </p:sp>
      <p:sp>
        <p:nvSpPr>
          <p:cNvPr id="28" name="reviews"/>
          <p:cNvSpPr/>
          <p:nvPr/>
        </p:nvSpPr>
        <p:spPr>
          <a:xfrm>
            <a:off x="9829800" y="4983480"/>
            <a:ext cx="1645920" cy="822960"/>
          </a:xfrm>
          <a:prstGeom prst="roundRect">
            <a:avLst>
              <a:gd name="adj" fmla="val 11111"/>
            </a:avLst>
          </a:prstGeom>
          <a:solidFill>
            <a:schemeClr val="bg1"/>
          </a:solidFill>
          <a:ln w="12700">
            <a:solidFill>
              <a:schemeClr val="bg1"/>
            </a:solidFill>
            <a:prstDash val="solid"/>
          </a:ln>
        </p:spPr>
      </p:sp>
      <p:sp>
        <p:nvSpPr>
          <p:cNvPr id="29" name="Text 23"/>
          <p:cNvSpPr txBox="1"/>
          <p:nvPr/>
        </p:nvSpPr>
        <p:spPr>
          <a:xfrm>
            <a:off x="9829800" y="4983480"/>
            <a:ext cx="1645920" cy="8229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reviews</a:t>
            </a:r>
            <a:endParaRPr lang="en-US" sz="1500" dirty="0"/>
          </a:p>
          <a:p>
            <a:pPr algn="ctr" indent="0" marL="0">
              <a:buNone/>
            </a:pPr>
            <a:r>
              <a:rPr lang="en-US" sz="1100" dirty="0">
                <a:solidFill>
                  <a:schemeClr val="tx1"/>
                </a:solidFill>
                <a:latin typeface="Calibri" pitchFamily="34" charset="0"/>
                <a:ea typeface="Calibri" pitchFamily="34" charset="-122"/>
                <a:cs typeface="Calibri" pitchFamily="34" charset="-120"/>
              </a:rPr>
              <a:t>ratings and text</a:t>
            </a:r>
            <a:endParaRPr lang="en-US" sz="1500" dirty="0"/>
          </a:p>
        </p:txBody>
      </p:sp>
      <p:sp>
        <p:nvSpPr>
          <p:cNvPr id="30" name="Shape 24"/>
          <p:cNvSpPr/>
          <p:nvPr/>
        </p:nvSpPr>
        <p:spPr>
          <a:xfrm>
            <a:off x="7178040" y="2423160"/>
            <a:ext cx="0" cy="1234440"/>
          </a:xfrm>
          <a:prstGeom prst="line">
            <a:avLst/>
          </a:prstGeom>
          <a:noFill/>
          <a:ln w="25400">
            <a:solidFill>
              <a:srgbClr val="CB202D"/>
            </a:solidFill>
            <a:prstDash val="solid"/>
          </a:ln>
        </p:spPr>
      </p:sp>
      <p:sp>
        <p:nvSpPr>
          <p:cNvPr id="31" name="Shape 25"/>
          <p:cNvSpPr/>
          <p:nvPr/>
        </p:nvSpPr>
        <p:spPr>
          <a:xfrm>
            <a:off x="7178040" y="3657600"/>
            <a:ext cx="320040" cy="0"/>
          </a:xfrm>
          <a:prstGeom prst="line">
            <a:avLst/>
          </a:prstGeom>
          <a:noFill/>
          <a:ln w="25400">
            <a:solidFill>
              <a:srgbClr val="CB202D"/>
            </a:solidFill>
            <a:prstDash val="solid"/>
          </a:ln>
        </p:spPr>
      </p:sp>
      <p:sp>
        <p:nvSpPr>
          <p:cNvPr id="32" name="Shape 26"/>
          <p:cNvSpPr/>
          <p:nvPr/>
        </p:nvSpPr>
        <p:spPr>
          <a:xfrm>
            <a:off x="10652760" y="2423160"/>
            <a:ext cx="0" cy="2560320"/>
          </a:xfrm>
          <a:prstGeom prst="line">
            <a:avLst/>
          </a:prstGeom>
          <a:noFill/>
          <a:ln w="25400">
            <a:solidFill>
              <a:srgbClr val="CB202D"/>
            </a:solidFill>
            <a:prstDash val="solid"/>
          </a:ln>
        </p:spPr>
      </p:sp>
      <p:sp>
        <p:nvSpPr>
          <p:cNvPr id="33" name="Shape 27"/>
          <p:cNvSpPr/>
          <p:nvPr/>
        </p:nvSpPr>
        <p:spPr>
          <a:xfrm>
            <a:off x="9509760" y="3657600"/>
            <a:ext cx="1143000" cy="0"/>
          </a:xfrm>
          <a:prstGeom prst="line">
            <a:avLst/>
          </a:prstGeom>
          <a:noFill/>
          <a:ln w="25400">
            <a:solidFill>
              <a:srgbClr val="CB202D"/>
            </a:solidFill>
            <a:prstDash val="solid"/>
          </a:ln>
        </p:spPr>
      </p:sp>
      <p:sp>
        <p:nvSpPr>
          <p:cNvPr id="34" name="Shape 28"/>
          <p:cNvSpPr/>
          <p:nvPr/>
        </p:nvSpPr>
        <p:spPr>
          <a:xfrm>
            <a:off x="8503920" y="4069080"/>
            <a:ext cx="0" cy="914400"/>
          </a:xfrm>
          <a:prstGeom prst="line">
            <a:avLst/>
          </a:prstGeom>
          <a:noFill/>
          <a:ln w="25400">
            <a:solidFill>
              <a:srgbClr val="CB202D"/>
            </a:solidFill>
            <a:prstDash val="solid"/>
          </a:ln>
        </p:spPr>
      </p:sp>
      <p:sp>
        <p:nvSpPr>
          <p:cNvPr id="35" name="Text 29"/>
          <p:cNvSpPr txBox="1"/>
          <p:nvPr/>
        </p:nvSpPr>
        <p:spPr>
          <a:xfrm>
            <a:off x="6217920" y="3703320"/>
            <a:ext cx="1188720" cy="27432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customer_id</a:t>
            </a:r>
            <a:endParaRPr lang="en-US" sz="1100" dirty="0"/>
          </a:p>
        </p:txBody>
      </p:sp>
      <p:sp>
        <p:nvSpPr>
          <p:cNvPr id="36" name="Text 30"/>
          <p:cNvSpPr txBox="1"/>
          <p:nvPr/>
        </p:nvSpPr>
        <p:spPr>
          <a:xfrm>
            <a:off x="10744200" y="2926080"/>
            <a:ext cx="868680" cy="27432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restaurant_id</a:t>
            </a:r>
            <a:endParaRPr lang="en-US" sz="1100" dirty="0"/>
          </a:p>
        </p:txBody>
      </p:sp>
      <p:sp>
        <p:nvSpPr>
          <p:cNvPr id="37" name="Text 31"/>
          <p:cNvSpPr txBox="1"/>
          <p:nvPr/>
        </p:nvSpPr>
        <p:spPr>
          <a:xfrm>
            <a:off x="8595360" y="4389120"/>
            <a:ext cx="914400" cy="27432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order date</a:t>
            </a:r>
            <a:endParaRPr lang="en-US" sz="1100" dirty="0"/>
          </a:p>
        </p:txBody>
      </p:sp>
      <p:sp>
        <p:nvSpPr>
          <p:cNvPr id="38" name="Text 32"/>
          <p:cNvSpPr txBox="1"/>
          <p:nvPr/>
        </p:nvSpPr>
        <p:spPr>
          <a:xfrm>
            <a:off x="6217920" y="5806440"/>
            <a:ext cx="3017520" cy="274320"/>
          </a:xfrm>
          <a:prstGeom prst="rect">
            <a:avLst/>
          </a:prstGeom>
          <a:noFill/>
          <a:ln/>
        </p:spPr>
        <p:txBody>
          <a:bodyPr wrap="square" lIns="0" tIns="0" rIns="0" bIns="0" rtlCol="0" anchor="t"/>
          <a:lstStyle/>
          <a:p>
            <a:pPr indent="0" marL="0">
              <a:buNone/>
            </a:pPr>
            <a:r>
              <a:rPr lang="en-US" sz="1100" i="1" dirty="0">
                <a:solidFill>
                  <a:schemeClr val="accent5"/>
                </a:solidFill>
                <a:latin typeface="Calibri" pitchFamily="34" charset="0"/>
                <a:ea typeface="Calibri" pitchFamily="34" charset="-122"/>
                <a:cs typeface="Calibri" pitchFamily="34" charset="-120"/>
              </a:rPr>
              <a:t>Reviews also link to customers through customer_id</a:t>
            </a:r>
            <a:endParaRPr lang="en-US" sz="11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DAX Measures</a:t>
            </a:r>
            <a:endParaRPr lang="en-US" sz="3400" dirty="0"/>
          </a:p>
        </p:txBody>
      </p:sp>
      <p:sp>
        <p:nvSpPr>
          <p:cNvPr id="3" name="Card"/>
          <p:cNvSpPr/>
          <p:nvPr/>
        </p:nvSpPr>
        <p:spPr>
          <a:xfrm>
            <a:off x="548640" y="1371600"/>
            <a:ext cx="3566160" cy="2286000"/>
          </a:xfrm>
          <a:prstGeom prst="roundRect">
            <a:avLst>
              <a:gd name="adj" fmla="val 4800"/>
            </a:avLst>
          </a:prstGeom>
          <a:solidFill>
            <a:schemeClr val="bg2"/>
          </a:solidFill>
          <a:ln w="12700">
            <a:solidFill>
              <a:schemeClr val="bg2"/>
            </a:solidFill>
            <a:prstDash val="solid"/>
          </a:ln>
        </p:spPr>
      </p:sp>
      <p:sp>
        <p:nvSpPr>
          <p:cNvPr id="4" name="Text 2"/>
          <p:cNvSpPr txBox="1"/>
          <p:nvPr/>
        </p:nvSpPr>
        <p:spPr>
          <a:xfrm>
            <a:off x="777240" y="1508760"/>
            <a:ext cx="3108960" cy="36576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Total Orders</a:t>
            </a:r>
            <a:endParaRPr lang="en-US" sz="1700" dirty="0"/>
          </a:p>
        </p:txBody>
      </p:sp>
      <p:sp>
        <p:nvSpPr>
          <p:cNvPr id="5" name="Shape 3"/>
          <p:cNvSpPr/>
          <p:nvPr/>
        </p:nvSpPr>
        <p:spPr>
          <a:xfrm>
            <a:off x="731520" y="1938528"/>
            <a:ext cx="3200400" cy="1188720"/>
          </a:xfrm>
          <a:prstGeom prst="roundRect">
            <a:avLst>
              <a:gd name="adj" fmla="val 6154"/>
            </a:avLst>
          </a:prstGeom>
          <a:solidFill>
            <a:schemeClr val="accent2"/>
          </a:solidFill>
          <a:ln w="12700">
            <a:solidFill>
              <a:schemeClr val="accent2"/>
            </a:solidFill>
            <a:prstDash val="solid"/>
          </a:ln>
        </p:spPr>
      </p:sp>
      <p:sp>
        <p:nvSpPr>
          <p:cNvPr id="6" name="Text 4"/>
          <p:cNvSpPr txBox="1"/>
          <p:nvPr/>
        </p:nvSpPr>
        <p:spPr>
          <a:xfrm>
            <a:off x="868680" y="1993392"/>
            <a:ext cx="2971800" cy="1097280"/>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DISTINCTCOUNT(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orders[order_id])</a:t>
            </a:r>
            <a:endParaRPr lang="en-US" sz="1100" dirty="0"/>
          </a:p>
        </p:txBody>
      </p:sp>
      <p:sp>
        <p:nvSpPr>
          <p:cNvPr id="7" name="Text 5"/>
          <p:cNvSpPr txBox="1"/>
          <p:nvPr/>
        </p:nvSpPr>
        <p:spPr>
          <a:xfrm>
            <a:off x="777240" y="3246120"/>
            <a:ext cx="3108960" cy="32004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Unique orders recorded</a:t>
            </a:r>
            <a:endParaRPr lang="en-US" sz="1300" dirty="0"/>
          </a:p>
        </p:txBody>
      </p:sp>
      <p:sp>
        <p:nvSpPr>
          <p:cNvPr id="8" name="Card"/>
          <p:cNvSpPr/>
          <p:nvPr/>
        </p:nvSpPr>
        <p:spPr>
          <a:xfrm>
            <a:off x="4297680" y="1371600"/>
            <a:ext cx="3566160" cy="2286000"/>
          </a:xfrm>
          <a:prstGeom prst="roundRect">
            <a:avLst>
              <a:gd name="adj" fmla="val 4800"/>
            </a:avLst>
          </a:prstGeom>
          <a:solidFill>
            <a:schemeClr val="bg2"/>
          </a:solidFill>
          <a:ln w="12700">
            <a:solidFill>
              <a:schemeClr val="bg2"/>
            </a:solidFill>
            <a:prstDash val="solid"/>
          </a:ln>
        </p:spPr>
      </p:sp>
      <p:sp>
        <p:nvSpPr>
          <p:cNvPr id="9" name="Text 7"/>
          <p:cNvSpPr txBox="1"/>
          <p:nvPr/>
        </p:nvSpPr>
        <p:spPr>
          <a:xfrm>
            <a:off x="4526280" y="1508760"/>
            <a:ext cx="3108960" cy="36576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Total Order Value</a:t>
            </a:r>
            <a:endParaRPr lang="en-US" sz="1700" dirty="0"/>
          </a:p>
        </p:txBody>
      </p:sp>
      <p:sp>
        <p:nvSpPr>
          <p:cNvPr id="10" name="Shape 8"/>
          <p:cNvSpPr/>
          <p:nvPr/>
        </p:nvSpPr>
        <p:spPr>
          <a:xfrm>
            <a:off x="4480560" y="1938528"/>
            <a:ext cx="3200400" cy="1188720"/>
          </a:xfrm>
          <a:prstGeom prst="roundRect">
            <a:avLst>
              <a:gd name="adj" fmla="val 6154"/>
            </a:avLst>
          </a:prstGeom>
          <a:solidFill>
            <a:schemeClr val="accent2"/>
          </a:solidFill>
          <a:ln w="12700">
            <a:solidFill>
              <a:schemeClr val="accent2"/>
            </a:solidFill>
            <a:prstDash val="solid"/>
          </a:ln>
        </p:spPr>
      </p:sp>
      <p:sp>
        <p:nvSpPr>
          <p:cNvPr id="11" name="Text 9"/>
          <p:cNvSpPr txBox="1"/>
          <p:nvPr/>
        </p:nvSpPr>
        <p:spPr>
          <a:xfrm>
            <a:off x="4617720" y="1993392"/>
            <a:ext cx="2971800" cy="1097280"/>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SUM(</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orders[order_amount])</a:t>
            </a:r>
            <a:endParaRPr lang="en-US" sz="1100" dirty="0"/>
          </a:p>
        </p:txBody>
      </p:sp>
      <p:sp>
        <p:nvSpPr>
          <p:cNvPr id="12" name="Text 10"/>
          <p:cNvSpPr txBox="1"/>
          <p:nvPr/>
        </p:nvSpPr>
        <p:spPr>
          <a:xfrm>
            <a:off x="4526280" y="3246120"/>
            <a:ext cx="3108960" cy="32004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Sum of order amounts</a:t>
            </a:r>
            <a:endParaRPr lang="en-US" sz="1300" dirty="0"/>
          </a:p>
        </p:txBody>
      </p:sp>
      <p:sp>
        <p:nvSpPr>
          <p:cNvPr id="13" name="Card"/>
          <p:cNvSpPr/>
          <p:nvPr/>
        </p:nvSpPr>
        <p:spPr>
          <a:xfrm>
            <a:off x="8046720" y="1371600"/>
            <a:ext cx="3566160" cy="2286000"/>
          </a:xfrm>
          <a:prstGeom prst="roundRect">
            <a:avLst>
              <a:gd name="adj" fmla="val 4800"/>
            </a:avLst>
          </a:prstGeom>
          <a:solidFill>
            <a:schemeClr val="bg2"/>
          </a:solidFill>
          <a:ln w="12700">
            <a:solidFill>
              <a:schemeClr val="bg2"/>
            </a:solidFill>
            <a:prstDash val="solid"/>
          </a:ln>
        </p:spPr>
      </p:sp>
      <p:sp>
        <p:nvSpPr>
          <p:cNvPr id="14" name="Text 12"/>
          <p:cNvSpPr txBox="1"/>
          <p:nvPr/>
        </p:nvSpPr>
        <p:spPr>
          <a:xfrm>
            <a:off x="8275320" y="1508760"/>
            <a:ext cx="3108960" cy="36576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Cancellation Rate %</a:t>
            </a:r>
            <a:endParaRPr lang="en-US" sz="1700" dirty="0"/>
          </a:p>
        </p:txBody>
      </p:sp>
      <p:sp>
        <p:nvSpPr>
          <p:cNvPr id="15" name="Shape 13"/>
          <p:cNvSpPr/>
          <p:nvPr/>
        </p:nvSpPr>
        <p:spPr>
          <a:xfrm>
            <a:off x="8229600" y="1938528"/>
            <a:ext cx="3200400" cy="1188720"/>
          </a:xfrm>
          <a:prstGeom prst="roundRect">
            <a:avLst>
              <a:gd name="adj" fmla="val 6154"/>
            </a:avLst>
          </a:prstGeom>
          <a:solidFill>
            <a:schemeClr val="accent2"/>
          </a:solidFill>
          <a:ln w="12700">
            <a:solidFill>
              <a:schemeClr val="accent2"/>
            </a:solidFill>
            <a:prstDash val="solid"/>
          </a:ln>
        </p:spPr>
      </p:sp>
      <p:sp>
        <p:nvSpPr>
          <p:cNvPr id="16" name="Text 14"/>
          <p:cNvSpPr txBox="1"/>
          <p:nvPr/>
        </p:nvSpPr>
        <p:spPr>
          <a:xfrm>
            <a:off x="8366760" y="1993392"/>
            <a:ext cx="2971800" cy="1097280"/>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DIVIDE(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[Cancelled Orders],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[Total Orders], 0)</a:t>
            </a:r>
            <a:endParaRPr lang="en-US" sz="1100" dirty="0"/>
          </a:p>
        </p:txBody>
      </p:sp>
      <p:sp>
        <p:nvSpPr>
          <p:cNvPr id="17" name="Text 15"/>
          <p:cNvSpPr txBox="1"/>
          <p:nvPr/>
        </p:nvSpPr>
        <p:spPr>
          <a:xfrm>
            <a:off x="8275320" y="3246120"/>
            <a:ext cx="3108960" cy="32004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Cancelled share of all orders</a:t>
            </a:r>
            <a:endParaRPr lang="en-US" sz="1300" dirty="0"/>
          </a:p>
        </p:txBody>
      </p:sp>
      <p:sp>
        <p:nvSpPr>
          <p:cNvPr id="18" name="Card"/>
          <p:cNvSpPr/>
          <p:nvPr/>
        </p:nvSpPr>
        <p:spPr>
          <a:xfrm>
            <a:off x="548640" y="3840480"/>
            <a:ext cx="3566160" cy="2286000"/>
          </a:xfrm>
          <a:prstGeom prst="roundRect">
            <a:avLst>
              <a:gd name="adj" fmla="val 4800"/>
            </a:avLst>
          </a:prstGeom>
          <a:solidFill>
            <a:schemeClr val="bg2"/>
          </a:solidFill>
          <a:ln w="12700">
            <a:solidFill>
              <a:schemeClr val="bg2"/>
            </a:solidFill>
            <a:prstDash val="solid"/>
          </a:ln>
        </p:spPr>
      </p:sp>
      <p:sp>
        <p:nvSpPr>
          <p:cNvPr id="19" name="Text 17"/>
          <p:cNvSpPr txBox="1"/>
          <p:nvPr/>
        </p:nvSpPr>
        <p:spPr>
          <a:xfrm>
            <a:off x="777240" y="3977640"/>
            <a:ext cx="3108960" cy="36576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Average Order Value</a:t>
            </a:r>
            <a:endParaRPr lang="en-US" sz="1700" dirty="0"/>
          </a:p>
        </p:txBody>
      </p:sp>
      <p:sp>
        <p:nvSpPr>
          <p:cNvPr id="20" name="Shape 18"/>
          <p:cNvSpPr/>
          <p:nvPr/>
        </p:nvSpPr>
        <p:spPr>
          <a:xfrm>
            <a:off x="731520" y="4407408"/>
            <a:ext cx="3200400" cy="1188720"/>
          </a:xfrm>
          <a:prstGeom prst="roundRect">
            <a:avLst>
              <a:gd name="adj" fmla="val 6154"/>
            </a:avLst>
          </a:prstGeom>
          <a:solidFill>
            <a:schemeClr val="accent2"/>
          </a:solidFill>
          <a:ln w="12700">
            <a:solidFill>
              <a:schemeClr val="accent2"/>
            </a:solidFill>
            <a:prstDash val="solid"/>
          </a:ln>
        </p:spPr>
      </p:sp>
      <p:sp>
        <p:nvSpPr>
          <p:cNvPr id="21" name="Text 19"/>
          <p:cNvSpPr txBox="1"/>
          <p:nvPr/>
        </p:nvSpPr>
        <p:spPr>
          <a:xfrm>
            <a:off x="868680" y="4462272"/>
            <a:ext cx="2971800" cy="1097280"/>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DIVIDE(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[Total Order Value],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[Total Orders], 0)</a:t>
            </a:r>
            <a:endParaRPr lang="en-US" sz="1100" dirty="0"/>
          </a:p>
        </p:txBody>
      </p:sp>
      <p:sp>
        <p:nvSpPr>
          <p:cNvPr id="22" name="Text 20"/>
          <p:cNvSpPr txBox="1"/>
          <p:nvPr/>
        </p:nvSpPr>
        <p:spPr>
          <a:xfrm>
            <a:off x="777240" y="5715000"/>
            <a:ext cx="3108960" cy="32004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Value per order</a:t>
            </a:r>
            <a:endParaRPr lang="en-US" sz="1300" dirty="0"/>
          </a:p>
        </p:txBody>
      </p:sp>
      <p:sp>
        <p:nvSpPr>
          <p:cNvPr id="23" name="Card"/>
          <p:cNvSpPr/>
          <p:nvPr/>
        </p:nvSpPr>
        <p:spPr>
          <a:xfrm>
            <a:off x="4297680" y="3840480"/>
            <a:ext cx="3566160" cy="2286000"/>
          </a:xfrm>
          <a:prstGeom prst="roundRect">
            <a:avLst>
              <a:gd name="adj" fmla="val 4800"/>
            </a:avLst>
          </a:prstGeom>
          <a:solidFill>
            <a:schemeClr val="bg2"/>
          </a:solidFill>
          <a:ln w="12700">
            <a:solidFill>
              <a:schemeClr val="bg2"/>
            </a:solidFill>
            <a:prstDash val="solid"/>
          </a:ln>
        </p:spPr>
      </p:sp>
      <p:sp>
        <p:nvSpPr>
          <p:cNvPr id="24" name="Text 22"/>
          <p:cNvSpPr txBox="1"/>
          <p:nvPr/>
        </p:nvSpPr>
        <p:spPr>
          <a:xfrm>
            <a:off x="4526280" y="3977640"/>
            <a:ext cx="3108960" cy="36576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Average Delivery Time</a:t>
            </a:r>
            <a:endParaRPr lang="en-US" sz="1700" dirty="0"/>
          </a:p>
        </p:txBody>
      </p:sp>
      <p:sp>
        <p:nvSpPr>
          <p:cNvPr id="25" name="Shape 23"/>
          <p:cNvSpPr/>
          <p:nvPr/>
        </p:nvSpPr>
        <p:spPr>
          <a:xfrm>
            <a:off x="4480560" y="4407408"/>
            <a:ext cx="3200400" cy="1188720"/>
          </a:xfrm>
          <a:prstGeom prst="roundRect">
            <a:avLst>
              <a:gd name="adj" fmla="val 6154"/>
            </a:avLst>
          </a:prstGeom>
          <a:solidFill>
            <a:schemeClr val="accent2"/>
          </a:solidFill>
          <a:ln w="12700">
            <a:solidFill>
              <a:schemeClr val="accent2"/>
            </a:solidFill>
            <a:prstDash val="solid"/>
          </a:ln>
        </p:spPr>
      </p:sp>
      <p:sp>
        <p:nvSpPr>
          <p:cNvPr id="26" name="Text 24"/>
          <p:cNvSpPr txBox="1"/>
          <p:nvPr/>
        </p:nvSpPr>
        <p:spPr>
          <a:xfrm>
            <a:off x="4617720" y="4462272"/>
            <a:ext cx="2971800" cy="1097280"/>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AVERAGE(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orders[delivery_time_mins])</a:t>
            </a:r>
            <a:endParaRPr lang="en-US" sz="1100" dirty="0"/>
          </a:p>
        </p:txBody>
      </p:sp>
      <p:sp>
        <p:nvSpPr>
          <p:cNvPr id="27" name="Text 25"/>
          <p:cNvSpPr txBox="1"/>
          <p:nvPr/>
        </p:nvSpPr>
        <p:spPr>
          <a:xfrm>
            <a:off x="4526280" y="5715000"/>
            <a:ext cx="3108960" cy="32004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Mean delivery minutes</a:t>
            </a:r>
            <a:endParaRPr lang="en-US" sz="1300" dirty="0"/>
          </a:p>
        </p:txBody>
      </p:sp>
      <p:sp>
        <p:nvSpPr>
          <p:cNvPr id="28" name="Card"/>
          <p:cNvSpPr/>
          <p:nvPr/>
        </p:nvSpPr>
        <p:spPr>
          <a:xfrm>
            <a:off x="8046720" y="3840480"/>
            <a:ext cx="3566160" cy="2286000"/>
          </a:xfrm>
          <a:prstGeom prst="roundRect">
            <a:avLst>
              <a:gd name="adj" fmla="val 4800"/>
            </a:avLst>
          </a:prstGeom>
          <a:solidFill>
            <a:schemeClr val="bg2"/>
          </a:solidFill>
          <a:ln w="12700">
            <a:solidFill>
              <a:schemeClr val="bg2"/>
            </a:solidFill>
            <a:prstDash val="solid"/>
          </a:ln>
        </p:spPr>
      </p:sp>
      <p:sp>
        <p:nvSpPr>
          <p:cNvPr id="29" name="Text 27"/>
          <p:cNvSpPr txBox="1"/>
          <p:nvPr/>
        </p:nvSpPr>
        <p:spPr>
          <a:xfrm>
            <a:off x="8275320" y="3977640"/>
            <a:ext cx="3108960" cy="36576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Segment Customers</a:t>
            </a:r>
            <a:endParaRPr lang="en-US" sz="1700" dirty="0"/>
          </a:p>
        </p:txBody>
      </p:sp>
      <p:sp>
        <p:nvSpPr>
          <p:cNvPr id="30" name="Shape 28"/>
          <p:cNvSpPr/>
          <p:nvPr/>
        </p:nvSpPr>
        <p:spPr>
          <a:xfrm>
            <a:off x="8229600" y="4407408"/>
            <a:ext cx="3200400" cy="1188720"/>
          </a:xfrm>
          <a:prstGeom prst="roundRect">
            <a:avLst>
              <a:gd name="adj" fmla="val 6154"/>
            </a:avLst>
          </a:prstGeom>
          <a:solidFill>
            <a:schemeClr val="accent2"/>
          </a:solidFill>
          <a:ln w="12700">
            <a:solidFill>
              <a:schemeClr val="accent2"/>
            </a:solidFill>
            <a:prstDash val="solid"/>
          </a:ln>
        </p:spPr>
      </p:sp>
      <p:sp>
        <p:nvSpPr>
          <p:cNvPr id="31" name="Text 29"/>
          <p:cNvSpPr txBox="1"/>
          <p:nvPr/>
        </p:nvSpPr>
        <p:spPr>
          <a:xfrm>
            <a:off x="8366760" y="4462272"/>
            <a:ext cx="2971800" cy="1097280"/>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CALCULATE(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[Total Customers],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customers[customer_segment]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"Regular")</a:t>
            </a:r>
            <a:endParaRPr lang="en-US" sz="1100" dirty="0"/>
          </a:p>
        </p:txBody>
      </p:sp>
      <p:sp>
        <p:nvSpPr>
          <p:cNvPr id="32" name="Text 30"/>
          <p:cNvSpPr txBox="1"/>
          <p:nvPr/>
        </p:nvSpPr>
        <p:spPr>
          <a:xfrm>
            <a:off x="8275320" y="5715000"/>
            <a:ext cx="3108960" cy="32004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New, Regular, Frequent counts</a:t>
            </a:r>
            <a:endParaRPr lang="en-US" sz="13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Dashboard 1: Ratings &amp; Order Trends Overview</a:t>
            </a:r>
            <a:endParaRPr lang="en-US" sz="3400" dirty="0"/>
          </a:p>
        </p:txBody>
      </p:sp>
      <p:sp>
        <p:nvSpPr>
          <p:cNvPr id="3" name="Shape 1"/>
          <p:cNvSpPr/>
          <p:nvPr/>
        </p:nvSpPr>
        <p:spPr>
          <a:xfrm>
            <a:off x="557784" y="1380744"/>
            <a:ext cx="7114032" cy="4043955"/>
          </a:xfrm>
          <a:prstGeom prst="rect">
            <a:avLst/>
          </a:prstGeom>
          <a:solidFill>
            <a:schemeClr val="bg1"/>
          </a:solidFill>
          <a:ln w="12700">
            <a:solidFill>
              <a:srgbClr val="F2A5AA"/>
            </a:solidFill>
            <a:prstDash val="solid"/>
          </a:ln>
          <a:effectLst>
            <a:outerShdw sx="100000" sy="100000" kx="0" ky="0" algn="bl" rotWithShape="0" blurRad="76200" dist="25400" dir="5400000">
              <a:srgbClr val="000000">
                <a:alpha val="18000"/>
              </a:srgbClr>
            </a:outerShdw>
          </a:effectLst>
        </p:spPr>
      </p:sp>
      <p:pic>
        <p:nvPicPr>
          <p:cNvPr id="4" name="Image 0" descr="Overview dashboard">    </p:cNvPr>
          <p:cNvPicPr>
            <a:picLocks noChangeAspect="1"/>
          </p:cNvPicPr>
          <p:nvPr/>
        </p:nvPicPr>
        <p:blipFill>
          <a:blip r:embed="rId1"/>
          <a:stretch>
            <a:fillRect/>
          </a:stretch>
        </p:blipFill>
        <p:spPr>
          <a:xfrm>
            <a:off x="594360" y="1417320"/>
            <a:ext cx="7040880" cy="3970803"/>
          </a:xfrm>
          <a:prstGeom prst="rect">
            <a:avLst/>
          </a:prstGeom>
        </p:spPr>
      </p:pic>
      <p:sp>
        <p:nvSpPr>
          <p:cNvPr id="5" name="Text 2"/>
          <p:cNvSpPr txBox="1"/>
          <p:nvPr/>
        </p:nvSpPr>
        <p:spPr>
          <a:xfrm>
            <a:off x="594360" y="5571003"/>
            <a:ext cx="7040880" cy="32004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Page 1 of 5: KPI cards, order timing, status mix and city ranking</a:t>
            </a:r>
            <a:endParaRPr lang="en-US" sz="1300" dirty="0"/>
          </a:p>
        </p:txBody>
      </p:sp>
      <p:sp>
        <p:nvSpPr>
          <p:cNvPr id="6" name="Shape 3"/>
          <p:cNvSpPr/>
          <p:nvPr/>
        </p:nvSpPr>
        <p:spPr>
          <a:xfrm>
            <a:off x="8092440" y="1371600"/>
            <a:ext cx="1737360" cy="1143000"/>
          </a:xfrm>
          <a:prstGeom prst="roundRect">
            <a:avLst>
              <a:gd name="adj" fmla="val 8000"/>
            </a:avLst>
          </a:prstGeom>
          <a:solidFill>
            <a:schemeClr val="accent1"/>
          </a:solidFill>
          <a:ln w="12700">
            <a:solidFill>
              <a:schemeClr val="accent1"/>
            </a:solidFill>
            <a:prstDash val="solid"/>
          </a:ln>
        </p:spPr>
      </p:sp>
      <p:sp>
        <p:nvSpPr>
          <p:cNvPr id="7" name="Text 4"/>
          <p:cNvSpPr txBox="1"/>
          <p:nvPr/>
        </p:nvSpPr>
        <p:spPr>
          <a:xfrm>
            <a:off x="8092440" y="1481328"/>
            <a:ext cx="1737360" cy="59436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12.00K</a:t>
            </a:r>
            <a:endParaRPr lang="en-US" sz="2800" dirty="0"/>
          </a:p>
        </p:txBody>
      </p:sp>
      <p:sp>
        <p:nvSpPr>
          <p:cNvPr id="8" name="Text 5"/>
          <p:cNvSpPr txBox="1"/>
          <p:nvPr/>
        </p:nvSpPr>
        <p:spPr>
          <a:xfrm>
            <a:off x="8092440" y="2084832"/>
            <a:ext cx="1737360" cy="32004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Total Orders</a:t>
            </a:r>
            <a:endParaRPr lang="en-US" sz="1200" dirty="0"/>
          </a:p>
        </p:txBody>
      </p:sp>
      <p:sp>
        <p:nvSpPr>
          <p:cNvPr id="9" name="Shape 6"/>
          <p:cNvSpPr/>
          <p:nvPr/>
        </p:nvSpPr>
        <p:spPr>
          <a:xfrm>
            <a:off x="9921240" y="1371600"/>
            <a:ext cx="1737360" cy="1143000"/>
          </a:xfrm>
          <a:prstGeom prst="roundRect">
            <a:avLst>
              <a:gd name="adj" fmla="val 8000"/>
            </a:avLst>
          </a:prstGeom>
          <a:solidFill>
            <a:schemeClr val="accent1"/>
          </a:solidFill>
          <a:ln w="12700">
            <a:solidFill>
              <a:schemeClr val="accent1"/>
            </a:solidFill>
            <a:prstDash val="solid"/>
          </a:ln>
        </p:spPr>
      </p:sp>
      <p:sp>
        <p:nvSpPr>
          <p:cNvPr id="10" name="Text 7"/>
          <p:cNvSpPr txBox="1"/>
          <p:nvPr/>
        </p:nvSpPr>
        <p:spPr>
          <a:xfrm>
            <a:off x="9921240" y="1481328"/>
            <a:ext cx="1737360" cy="59436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3.95</a:t>
            </a:r>
            <a:endParaRPr lang="en-US" sz="2800" dirty="0"/>
          </a:p>
        </p:txBody>
      </p:sp>
      <p:sp>
        <p:nvSpPr>
          <p:cNvPr id="11" name="Text 8"/>
          <p:cNvSpPr txBox="1"/>
          <p:nvPr/>
        </p:nvSpPr>
        <p:spPr>
          <a:xfrm>
            <a:off x="9921240" y="2084832"/>
            <a:ext cx="1737360" cy="32004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Average Review Rating</a:t>
            </a:r>
            <a:endParaRPr lang="en-US" sz="1200" dirty="0"/>
          </a:p>
        </p:txBody>
      </p:sp>
      <p:sp>
        <p:nvSpPr>
          <p:cNvPr id="12" name="Shape 9"/>
          <p:cNvSpPr/>
          <p:nvPr/>
        </p:nvSpPr>
        <p:spPr>
          <a:xfrm>
            <a:off x="8092440" y="2651760"/>
            <a:ext cx="1737360" cy="1143000"/>
          </a:xfrm>
          <a:prstGeom prst="roundRect">
            <a:avLst>
              <a:gd name="adj" fmla="val 8000"/>
            </a:avLst>
          </a:prstGeom>
          <a:solidFill>
            <a:schemeClr val="accent1"/>
          </a:solidFill>
          <a:ln w="12700">
            <a:solidFill>
              <a:schemeClr val="accent1"/>
            </a:solidFill>
            <a:prstDash val="solid"/>
          </a:ln>
        </p:spPr>
      </p:sp>
      <p:sp>
        <p:nvSpPr>
          <p:cNvPr id="13" name="Text 10"/>
          <p:cNvSpPr txBox="1"/>
          <p:nvPr/>
        </p:nvSpPr>
        <p:spPr>
          <a:xfrm>
            <a:off x="8092440" y="2761488"/>
            <a:ext cx="1737360" cy="59436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6.29M</a:t>
            </a:r>
            <a:endParaRPr lang="en-US" sz="2800" dirty="0"/>
          </a:p>
        </p:txBody>
      </p:sp>
      <p:sp>
        <p:nvSpPr>
          <p:cNvPr id="14" name="Text 11"/>
          <p:cNvSpPr txBox="1"/>
          <p:nvPr/>
        </p:nvSpPr>
        <p:spPr>
          <a:xfrm>
            <a:off x="8092440" y="3364992"/>
            <a:ext cx="1737360" cy="32004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Total Order Value</a:t>
            </a:r>
            <a:endParaRPr lang="en-US" sz="1200" dirty="0"/>
          </a:p>
        </p:txBody>
      </p:sp>
      <p:sp>
        <p:nvSpPr>
          <p:cNvPr id="15" name="Shape 12"/>
          <p:cNvSpPr/>
          <p:nvPr/>
        </p:nvSpPr>
        <p:spPr>
          <a:xfrm>
            <a:off x="9921240" y="2651760"/>
            <a:ext cx="1737360" cy="1143000"/>
          </a:xfrm>
          <a:prstGeom prst="roundRect">
            <a:avLst>
              <a:gd name="adj" fmla="val 8000"/>
            </a:avLst>
          </a:prstGeom>
          <a:solidFill>
            <a:schemeClr val="accent1"/>
          </a:solidFill>
          <a:ln w="12700">
            <a:solidFill>
              <a:schemeClr val="accent1"/>
            </a:solidFill>
            <a:prstDash val="solid"/>
          </a:ln>
        </p:spPr>
      </p:sp>
      <p:sp>
        <p:nvSpPr>
          <p:cNvPr id="16" name="Text 13"/>
          <p:cNvSpPr txBox="1"/>
          <p:nvPr/>
        </p:nvSpPr>
        <p:spPr>
          <a:xfrm>
            <a:off x="9921240" y="2761488"/>
            <a:ext cx="1737360" cy="59436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35.92</a:t>
            </a:r>
            <a:endParaRPr lang="en-US" sz="2800" dirty="0"/>
          </a:p>
        </p:txBody>
      </p:sp>
      <p:sp>
        <p:nvSpPr>
          <p:cNvPr id="17" name="Text 14"/>
          <p:cNvSpPr txBox="1"/>
          <p:nvPr/>
        </p:nvSpPr>
        <p:spPr>
          <a:xfrm>
            <a:off x="9921240" y="3364992"/>
            <a:ext cx="1737360" cy="32004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Avg Delivery Time</a:t>
            </a:r>
            <a:endParaRPr lang="en-US" sz="1200" dirty="0"/>
          </a:p>
        </p:txBody>
      </p:sp>
      <p:sp>
        <p:nvSpPr>
          <p:cNvPr id="18" name="Text 15"/>
          <p:cNvSpPr txBox="1"/>
          <p:nvPr/>
        </p:nvSpPr>
        <p:spPr>
          <a:xfrm>
            <a:off x="8092440" y="4023360"/>
            <a:ext cx="356616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Orders by hour compared across time slots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Status donut: Delivered is the largest share</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Decomposition tree: value by status, payment, segment</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Cities ranked by total orders</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Dashboards 2 &amp; 3: Restaurants, Ratings &amp; Orders</a:t>
            </a:r>
            <a:endParaRPr lang="en-US" sz="3400" dirty="0"/>
          </a:p>
        </p:txBody>
      </p:sp>
      <p:sp>
        <p:nvSpPr>
          <p:cNvPr id="3" name="Shape 1"/>
          <p:cNvSpPr/>
          <p:nvPr/>
        </p:nvSpPr>
        <p:spPr>
          <a:xfrm>
            <a:off x="557784" y="1746504"/>
            <a:ext cx="5422392" cy="3074183"/>
          </a:xfrm>
          <a:prstGeom prst="rect">
            <a:avLst/>
          </a:prstGeom>
          <a:solidFill>
            <a:schemeClr val="bg1"/>
          </a:solidFill>
          <a:ln w="12700">
            <a:solidFill>
              <a:srgbClr val="F2A5AA"/>
            </a:solidFill>
            <a:prstDash val="solid"/>
          </a:ln>
          <a:effectLst>
            <a:outerShdw sx="100000" sy="100000" kx="0" ky="0" algn="bl" rotWithShape="0" blurRad="76200" dist="25400" dir="5400000">
              <a:srgbClr val="000000">
                <a:alpha val="18000"/>
              </a:srgbClr>
            </a:outerShdw>
          </a:effectLst>
        </p:spPr>
      </p:sp>
      <p:pic>
        <p:nvPicPr>
          <p:cNvPr id="4" name="Image 0" descr="Restaurant Analysis">    </p:cNvPr>
          <p:cNvPicPr>
            <a:picLocks noChangeAspect="1"/>
          </p:cNvPicPr>
          <p:nvPr/>
        </p:nvPicPr>
        <p:blipFill>
          <a:blip r:embed="rId1"/>
          <a:stretch>
            <a:fillRect/>
          </a:stretch>
        </p:blipFill>
        <p:spPr>
          <a:xfrm>
            <a:off x="594360" y="1783080"/>
            <a:ext cx="5349240" cy="3001031"/>
          </a:xfrm>
          <a:prstGeom prst="rect">
            <a:avLst/>
          </a:prstGeom>
        </p:spPr>
      </p:pic>
      <p:sp>
        <p:nvSpPr>
          <p:cNvPr id="5" name="Shape 2"/>
          <p:cNvSpPr/>
          <p:nvPr/>
        </p:nvSpPr>
        <p:spPr>
          <a:xfrm>
            <a:off x="594360" y="1280160"/>
            <a:ext cx="3108960" cy="347472"/>
          </a:xfrm>
          <a:prstGeom prst="roundRect">
            <a:avLst>
              <a:gd name="adj" fmla="val 50000"/>
            </a:avLst>
          </a:prstGeom>
          <a:solidFill>
            <a:schemeClr val="accent1"/>
          </a:solidFill>
          <a:ln w="12700">
            <a:solidFill>
              <a:schemeClr val="accent1"/>
            </a:solidFill>
            <a:prstDash val="solid"/>
          </a:ln>
        </p:spPr>
      </p:sp>
      <p:sp>
        <p:nvSpPr>
          <p:cNvPr id="6" name="Text 3"/>
          <p:cNvSpPr txBox="1"/>
          <p:nvPr/>
        </p:nvSpPr>
        <p:spPr>
          <a:xfrm>
            <a:off x="594360" y="1280160"/>
            <a:ext cx="3108960"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Restaurant Analysis</a:t>
            </a:r>
            <a:endParaRPr lang="en-US" sz="1400" dirty="0"/>
          </a:p>
        </p:txBody>
      </p:sp>
      <p:sp>
        <p:nvSpPr>
          <p:cNvPr id="7" name="Text 4"/>
          <p:cNvSpPr txBox="1"/>
          <p:nvPr/>
        </p:nvSpPr>
        <p:spPr>
          <a:xfrm>
            <a:off x="594360" y="5012711"/>
            <a:ext cx="534924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Highest-rated restaurants and rating distribution</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Online delivery: 203 Yes vs 36 No</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Reviews and restaurants by city</a:t>
            </a:r>
            <a:endParaRPr lang="en-US" sz="1400" dirty="0"/>
          </a:p>
        </p:txBody>
      </p:sp>
      <p:sp>
        <p:nvSpPr>
          <p:cNvPr id="8" name="Shape 5"/>
          <p:cNvSpPr/>
          <p:nvPr/>
        </p:nvSpPr>
        <p:spPr>
          <a:xfrm>
            <a:off x="6181344" y="1746504"/>
            <a:ext cx="5422392" cy="3074183"/>
          </a:xfrm>
          <a:prstGeom prst="rect">
            <a:avLst/>
          </a:prstGeom>
          <a:solidFill>
            <a:schemeClr val="bg1"/>
          </a:solidFill>
          <a:ln w="12700">
            <a:solidFill>
              <a:srgbClr val="F2A5AA"/>
            </a:solidFill>
            <a:prstDash val="solid"/>
          </a:ln>
          <a:effectLst>
            <a:outerShdw sx="100000" sy="100000" kx="0" ky="0" algn="bl" rotWithShape="0" blurRad="76200" dist="25400" dir="5400000">
              <a:srgbClr val="000000">
                <a:alpha val="18000"/>
              </a:srgbClr>
            </a:outerShdw>
          </a:effectLst>
        </p:spPr>
      </p:sp>
      <p:pic>
        <p:nvPicPr>
          <p:cNvPr id="9" name="Image 1" descr="Ratings &amp; Orders Analysis">    </p:cNvPr>
          <p:cNvPicPr>
            <a:picLocks noChangeAspect="1"/>
          </p:cNvPicPr>
          <p:nvPr/>
        </p:nvPicPr>
        <p:blipFill>
          <a:blip r:embed="rId2"/>
          <a:stretch>
            <a:fillRect/>
          </a:stretch>
        </p:blipFill>
        <p:spPr>
          <a:xfrm>
            <a:off x="6217920" y="1783080"/>
            <a:ext cx="5349240" cy="3001031"/>
          </a:xfrm>
          <a:prstGeom prst="rect">
            <a:avLst/>
          </a:prstGeom>
        </p:spPr>
      </p:pic>
      <p:sp>
        <p:nvSpPr>
          <p:cNvPr id="10" name="Shape 6"/>
          <p:cNvSpPr/>
          <p:nvPr/>
        </p:nvSpPr>
        <p:spPr>
          <a:xfrm>
            <a:off x="6217920" y="1280160"/>
            <a:ext cx="3108960" cy="347472"/>
          </a:xfrm>
          <a:prstGeom prst="roundRect">
            <a:avLst>
              <a:gd name="adj" fmla="val 50000"/>
            </a:avLst>
          </a:prstGeom>
          <a:solidFill>
            <a:schemeClr val="accent1"/>
          </a:solidFill>
          <a:ln w="12700">
            <a:solidFill>
              <a:schemeClr val="accent1"/>
            </a:solidFill>
            <a:prstDash val="solid"/>
          </a:ln>
        </p:spPr>
      </p:sp>
      <p:sp>
        <p:nvSpPr>
          <p:cNvPr id="11" name="Text 7"/>
          <p:cNvSpPr txBox="1"/>
          <p:nvPr/>
        </p:nvSpPr>
        <p:spPr>
          <a:xfrm>
            <a:off x="6217920" y="1280160"/>
            <a:ext cx="3108960"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Ratings &amp; Orders Analysis</a:t>
            </a:r>
            <a:endParaRPr lang="en-US" sz="1400" dirty="0"/>
          </a:p>
        </p:txBody>
      </p:sp>
      <p:sp>
        <p:nvSpPr>
          <p:cNvPr id="12" name="Text 8"/>
          <p:cNvSpPr txBox="1"/>
          <p:nvPr/>
        </p:nvSpPr>
        <p:spPr>
          <a:xfrm>
            <a:off x="6217920" y="5012711"/>
            <a:ext cx="534924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Delivery time by city, top 10 restaurants by value</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Cuisine treemap and status breakdown</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Cards: 865 cancelled orders, average order value 524.05</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Dashboards 4 &amp; 5: Customers and Locations</a:t>
            </a:r>
            <a:endParaRPr lang="en-US" sz="3400" dirty="0"/>
          </a:p>
        </p:txBody>
      </p:sp>
      <p:sp>
        <p:nvSpPr>
          <p:cNvPr id="3" name="Shape 1"/>
          <p:cNvSpPr/>
          <p:nvPr/>
        </p:nvSpPr>
        <p:spPr>
          <a:xfrm>
            <a:off x="557784" y="1746504"/>
            <a:ext cx="5422392" cy="3074183"/>
          </a:xfrm>
          <a:prstGeom prst="rect">
            <a:avLst/>
          </a:prstGeom>
          <a:solidFill>
            <a:schemeClr val="bg1"/>
          </a:solidFill>
          <a:ln w="12700">
            <a:solidFill>
              <a:srgbClr val="F2A5AA"/>
            </a:solidFill>
            <a:prstDash val="solid"/>
          </a:ln>
          <a:effectLst>
            <a:outerShdw sx="100000" sy="100000" kx="0" ky="0" algn="bl" rotWithShape="0" blurRad="76200" dist="25400" dir="5400000">
              <a:srgbClr val="000000">
                <a:alpha val="18000"/>
              </a:srgbClr>
            </a:outerShdw>
          </a:effectLst>
        </p:spPr>
      </p:sp>
      <p:pic>
        <p:nvPicPr>
          <p:cNvPr id="4" name="Image 0" descr="Customer Behaviour &amp; Insights">    </p:cNvPr>
          <p:cNvPicPr>
            <a:picLocks noChangeAspect="1"/>
          </p:cNvPicPr>
          <p:nvPr/>
        </p:nvPicPr>
        <p:blipFill>
          <a:blip r:embed="rId1"/>
          <a:stretch>
            <a:fillRect/>
          </a:stretch>
        </p:blipFill>
        <p:spPr>
          <a:xfrm>
            <a:off x="594360" y="1783080"/>
            <a:ext cx="5349240" cy="3001031"/>
          </a:xfrm>
          <a:prstGeom prst="rect">
            <a:avLst/>
          </a:prstGeom>
        </p:spPr>
      </p:pic>
      <p:sp>
        <p:nvSpPr>
          <p:cNvPr id="5" name="Shape 2"/>
          <p:cNvSpPr/>
          <p:nvPr/>
        </p:nvSpPr>
        <p:spPr>
          <a:xfrm>
            <a:off x="594360" y="1280160"/>
            <a:ext cx="3566160" cy="347472"/>
          </a:xfrm>
          <a:prstGeom prst="roundRect">
            <a:avLst>
              <a:gd name="adj" fmla="val 50000"/>
            </a:avLst>
          </a:prstGeom>
          <a:solidFill>
            <a:schemeClr val="accent1"/>
          </a:solidFill>
          <a:ln w="12700">
            <a:solidFill>
              <a:schemeClr val="accent1"/>
            </a:solidFill>
            <a:prstDash val="solid"/>
          </a:ln>
        </p:spPr>
      </p:sp>
      <p:sp>
        <p:nvSpPr>
          <p:cNvPr id="6" name="Text 3"/>
          <p:cNvSpPr txBox="1"/>
          <p:nvPr/>
        </p:nvSpPr>
        <p:spPr>
          <a:xfrm>
            <a:off x="594360" y="1280160"/>
            <a:ext cx="3566160"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Customer Behaviour &amp; Insights</a:t>
            </a:r>
            <a:endParaRPr lang="en-US" sz="1400" dirty="0"/>
          </a:p>
        </p:txBody>
      </p:sp>
      <p:sp>
        <p:nvSpPr>
          <p:cNvPr id="7" name="Text 4"/>
          <p:cNvSpPr txBox="1"/>
          <p:nvPr/>
        </p:nvSpPr>
        <p:spPr>
          <a:xfrm>
            <a:off x="594360" y="5012711"/>
            <a:ext cx="534924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900 customers: 439 Regular, 232 New, 229 Frequent</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Customer distribution and segments by city</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Average spend by segment</a:t>
            </a:r>
            <a:endParaRPr lang="en-US" sz="1400" dirty="0"/>
          </a:p>
        </p:txBody>
      </p:sp>
      <p:sp>
        <p:nvSpPr>
          <p:cNvPr id="8" name="Shape 5"/>
          <p:cNvSpPr/>
          <p:nvPr/>
        </p:nvSpPr>
        <p:spPr>
          <a:xfrm>
            <a:off x="6181344" y="1746504"/>
            <a:ext cx="5422392" cy="3096209"/>
          </a:xfrm>
          <a:prstGeom prst="rect">
            <a:avLst/>
          </a:prstGeom>
          <a:solidFill>
            <a:schemeClr val="bg1"/>
          </a:solidFill>
          <a:ln w="12700">
            <a:solidFill>
              <a:srgbClr val="F2A5AA"/>
            </a:solidFill>
            <a:prstDash val="solid"/>
          </a:ln>
          <a:effectLst>
            <a:outerShdw sx="100000" sy="100000" kx="0" ky="0" algn="bl" rotWithShape="0" blurRad="76200" dist="25400" dir="5400000">
              <a:srgbClr val="000000">
                <a:alpha val="18000"/>
              </a:srgbClr>
            </a:outerShdw>
          </a:effectLst>
        </p:spPr>
      </p:sp>
      <p:pic>
        <p:nvPicPr>
          <p:cNvPr id="9" name="Image 1" descr="Restaurant Locations Across India">    </p:cNvPr>
          <p:cNvPicPr>
            <a:picLocks noChangeAspect="1"/>
          </p:cNvPicPr>
          <p:nvPr/>
        </p:nvPicPr>
        <p:blipFill>
          <a:blip r:embed="rId2"/>
          <a:stretch>
            <a:fillRect/>
          </a:stretch>
        </p:blipFill>
        <p:spPr>
          <a:xfrm>
            <a:off x="6217920" y="1783080"/>
            <a:ext cx="5349240" cy="3023057"/>
          </a:xfrm>
          <a:prstGeom prst="rect">
            <a:avLst/>
          </a:prstGeom>
        </p:spPr>
      </p:pic>
      <p:sp>
        <p:nvSpPr>
          <p:cNvPr id="10" name="Shape 6"/>
          <p:cNvSpPr/>
          <p:nvPr/>
        </p:nvSpPr>
        <p:spPr>
          <a:xfrm>
            <a:off x="6217920" y="1280160"/>
            <a:ext cx="3566160" cy="347472"/>
          </a:xfrm>
          <a:prstGeom prst="roundRect">
            <a:avLst>
              <a:gd name="adj" fmla="val 50000"/>
            </a:avLst>
          </a:prstGeom>
          <a:solidFill>
            <a:schemeClr val="accent1"/>
          </a:solidFill>
          <a:ln w="12700">
            <a:solidFill>
              <a:schemeClr val="accent1"/>
            </a:solidFill>
            <a:prstDash val="solid"/>
          </a:ln>
        </p:spPr>
      </p:sp>
      <p:sp>
        <p:nvSpPr>
          <p:cNvPr id="11" name="Text 7"/>
          <p:cNvSpPr txBox="1"/>
          <p:nvPr/>
        </p:nvSpPr>
        <p:spPr>
          <a:xfrm>
            <a:off x="6217920" y="1280160"/>
            <a:ext cx="3566160"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Restaurant Locations Across India</a:t>
            </a:r>
            <a:endParaRPr lang="en-US" sz="1400" dirty="0"/>
          </a:p>
        </p:txBody>
      </p:sp>
      <p:sp>
        <p:nvSpPr>
          <p:cNvPr id="12" name="Text 8"/>
          <p:cNvSpPr txBox="1"/>
          <p:nvPr/>
        </p:nvSpPr>
        <p:spPr>
          <a:xfrm>
            <a:off x="6217920" y="5034737"/>
            <a:ext cx="534924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Bubble map of restaurant locations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Tooltips: city, reviews, rating, total orders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Geographic view of ratings and activity</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Key Insights from the Dashboards</a:t>
            </a:r>
            <a:endParaRPr lang="en-US" sz="3400" dirty="0"/>
          </a:p>
        </p:txBody>
      </p:sp>
      <p:sp>
        <p:nvSpPr>
          <p:cNvPr id="3" name="Card"/>
          <p:cNvSpPr/>
          <p:nvPr/>
        </p:nvSpPr>
        <p:spPr>
          <a:xfrm>
            <a:off x="548640" y="1325880"/>
            <a:ext cx="3611880" cy="3931920"/>
          </a:xfrm>
          <a:prstGeom prst="roundRect">
            <a:avLst>
              <a:gd name="adj" fmla="val 3038"/>
            </a:avLst>
          </a:prstGeom>
          <a:solidFill>
            <a:schemeClr val="bg2"/>
          </a:solidFill>
          <a:ln w="12700">
            <a:solidFill>
              <a:schemeClr val="bg2"/>
            </a:solidFill>
            <a:prstDash val="solid"/>
          </a:ln>
        </p:spPr>
      </p:sp>
      <p:sp>
        <p:nvSpPr>
          <p:cNvPr id="4" name="Card"/>
          <p:cNvSpPr/>
          <p:nvPr/>
        </p:nvSpPr>
        <p:spPr>
          <a:xfrm>
            <a:off x="4297680" y="1325880"/>
            <a:ext cx="3611880" cy="3931920"/>
          </a:xfrm>
          <a:prstGeom prst="roundRect">
            <a:avLst>
              <a:gd name="adj" fmla="val 3038"/>
            </a:avLst>
          </a:prstGeom>
          <a:solidFill>
            <a:schemeClr val="bg2"/>
          </a:solidFill>
          <a:ln w="12700">
            <a:solidFill>
              <a:schemeClr val="bg2"/>
            </a:solidFill>
            <a:prstDash val="solid"/>
          </a:ln>
        </p:spPr>
      </p:sp>
      <p:sp>
        <p:nvSpPr>
          <p:cNvPr id="5" name="Card"/>
          <p:cNvSpPr/>
          <p:nvPr/>
        </p:nvSpPr>
        <p:spPr>
          <a:xfrm>
            <a:off x="8046720" y="1325880"/>
            <a:ext cx="3611880" cy="3931920"/>
          </a:xfrm>
          <a:prstGeom prst="roundRect">
            <a:avLst>
              <a:gd name="adj" fmla="val 3038"/>
            </a:avLst>
          </a:prstGeom>
          <a:solidFill>
            <a:schemeClr val="bg2"/>
          </a:solidFill>
          <a:ln w="12700">
            <a:solidFill>
              <a:schemeClr val="bg2"/>
            </a:solidFill>
            <a:prstDash val="solid"/>
          </a:ln>
        </p:spPr>
      </p:sp>
      <p:sp>
        <p:nvSpPr>
          <p:cNvPr id="6" name="Text 4"/>
          <p:cNvSpPr txBox="1"/>
          <p:nvPr/>
        </p:nvSpPr>
        <p:spPr>
          <a:xfrm>
            <a:off x="777240" y="1463040"/>
            <a:ext cx="320040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Order value by status</a:t>
            </a:r>
            <a:endParaRPr lang="en-US" sz="1600" dirty="0"/>
          </a:p>
        </p:txBody>
      </p:sp>
      <p:graphicFrame>
        <p:nvGraphicFramePr>
          <p:cNvPr id="7" name="Chart 0" descr=""/>
          <p:cNvGraphicFramePr/>
          <p:nvPr/>
        </p:nvGraphicFramePr>
        <p:xfrm>
          <a:off x="685800" y="1783080"/>
          <a:ext cx="3337560" cy="25146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777240" y="4389120"/>
            <a:ext cx="3200400" cy="7772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Delivered orders carry about 91% of the 6.29M total order value</a:t>
            </a:r>
            <a:endParaRPr lang="en-US" sz="1300" dirty="0"/>
          </a:p>
        </p:txBody>
      </p:sp>
      <p:sp>
        <p:nvSpPr>
          <p:cNvPr id="9" name="Text 6"/>
          <p:cNvSpPr txBox="1"/>
          <p:nvPr/>
        </p:nvSpPr>
        <p:spPr>
          <a:xfrm>
            <a:off x="4526280" y="1463040"/>
            <a:ext cx="320040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Total orders by city (K)</a:t>
            </a:r>
            <a:endParaRPr lang="en-US" sz="1600" dirty="0"/>
          </a:p>
        </p:txBody>
      </p:sp>
      <p:graphicFrame>
        <p:nvGraphicFramePr>
          <p:cNvPr id="10" name="Chart 1" descr=""/>
          <p:cNvGraphicFramePr/>
          <p:nvPr/>
        </p:nvGraphicFramePr>
        <p:xfrm>
          <a:off x="4389120" y="1783080"/>
          <a:ext cx="3429000" cy="256032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4526280" y="4389120"/>
            <a:ext cx="3200400" cy="7772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Chennai leads on orders; Kolkata is lowest of the ten cities</a:t>
            </a:r>
            <a:endParaRPr lang="en-US" sz="1300" dirty="0"/>
          </a:p>
        </p:txBody>
      </p:sp>
      <p:sp>
        <p:nvSpPr>
          <p:cNvPr id="12" name="Text 8"/>
          <p:cNvSpPr txBox="1"/>
          <p:nvPr/>
        </p:nvSpPr>
        <p:spPr>
          <a:xfrm>
            <a:off x="8275320" y="1463040"/>
            <a:ext cx="320040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Customers by segment</a:t>
            </a:r>
            <a:endParaRPr lang="en-US" sz="1600" dirty="0"/>
          </a:p>
        </p:txBody>
      </p:sp>
      <p:graphicFrame>
        <p:nvGraphicFramePr>
          <p:cNvPr id="13" name="Chart 2" descr=""/>
          <p:cNvGraphicFramePr/>
          <p:nvPr/>
        </p:nvGraphicFramePr>
        <p:xfrm>
          <a:off x="8138160" y="1783080"/>
          <a:ext cx="3337560" cy="2514600"/>
        </p:xfrm>
        <a:graphic xmlns:a="http://schemas.openxmlformats.org/drawingml/2006/main">
          <a:graphicData uri="http://schemas.openxmlformats.org/drawingml/2006/chart">
            <c:chart xmlns:c="http://schemas.openxmlformats.org/drawingml/2006/chart" r:id="rId3"/>
          </a:graphicData>
        </a:graphic>
      </p:graphicFrame>
      <p:sp>
        <p:nvSpPr>
          <p:cNvPr id="14" name="Text 9"/>
          <p:cNvSpPr txBox="1"/>
          <p:nvPr/>
        </p:nvSpPr>
        <p:spPr>
          <a:xfrm>
            <a:off x="8275320" y="4389120"/>
            <a:ext cx="3200400" cy="7772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Regular customers are the largest of the 900 (439)</a:t>
            </a:r>
            <a:endParaRPr lang="en-US" sz="1300" dirty="0"/>
          </a:p>
        </p:txBody>
      </p:sp>
      <p:sp>
        <p:nvSpPr>
          <p:cNvPr id="15" name="Shape 10"/>
          <p:cNvSpPr/>
          <p:nvPr/>
        </p:nvSpPr>
        <p:spPr>
          <a:xfrm>
            <a:off x="548640" y="5440680"/>
            <a:ext cx="11109960" cy="731520"/>
          </a:xfrm>
          <a:prstGeom prst="roundRect">
            <a:avLst>
              <a:gd name="adj" fmla="val 15000"/>
            </a:avLst>
          </a:prstGeom>
          <a:solidFill>
            <a:schemeClr val="accent1"/>
          </a:solidFill>
          <a:ln w="12700">
            <a:solidFill>
              <a:schemeClr val="accent1"/>
            </a:solidFill>
            <a:prstDash val="solid"/>
          </a:ln>
        </p:spPr>
      </p:sp>
      <p:sp>
        <p:nvSpPr>
          <p:cNvPr id="16" name="Text 11"/>
          <p:cNvSpPr txBox="1"/>
          <p:nvPr/>
        </p:nvSpPr>
        <p:spPr>
          <a:xfrm>
            <a:off x="777240" y="5440680"/>
            <a:ext cx="10652760" cy="731520"/>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Ratings cluster near 4 stars (average 3.95); 203 restaurants offer online delivery vs 36 that do not; 865 orders were cancelled (0.07 rate)</a:t>
            </a:r>
            <a:endParaRPr lang="en-US" sz="15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Challenges Faced &amp; How We Overcame Them</a:t>
            </a:r>
            <a:endParaRPr lang="en-US" sz="3400" dirty="0"/>
          </a:p>
        </p:txBody>
      </p:sp>
      <p:sp>
        <p:nvSpPr>
          <p:cNvPr id="3" name="Shape 1"/>
          <p:cNvSpPr/>
          <p:nvPr/>
        </p:nvSpPr>
        <p:spPr>
          <a:xfrm>
            <a:off x="548640" y="1280160"/>
            <a:ext cx="11109960" cy="384048"/>
          </a:xfrm>
          <a:prstGeom prst="roundRect">
            <a:avLst>
              <a:gd name="adj" fmla="val 23810"/>
            </a:avLst>
          </a:prstGeom>
          <a:solidFill>
            <a:schemeClr val="accent2"/>
          </a:solidFill>
          <a:ln w="12700">
            <a:solidFill>
              <a:schemeClr val="accent2"/>
            </a:solidFill>
            <a:prstDash val="solid"/>
          </a:ln>
        </p:spPr>
      </p:sp>
      <p:sp>
        <p:nvSpPr>
          <p:cNvPr id="4" name="Text 2"/>
          <p:cNvSpPr txBox="1"/>
          <p:nvPr/>
        </p:nvSpPr>
        <p:spPr>
          <a:xfrm>
            <a:off x="1234440" y="1280160"/>
            <a:ext cx="3657600" cy="384048"/>
          </a:xfrm>
          <a:prstGeom prst="rect">
            <a:avLst/>
          </a:prstGeom>
          <a:noFill/>
          <a:ln/>
        </p:spPr>
        <p:txBody>
          <a:bodyPr wrap="square" lIns="0" tIns="0" rIns="0" bIns="0" rtlCol="0" anchor="ctr"/>
          <a:lstStyle/>
          <a:p>
            <a:pPr indent="0" marL="0">
              <a:buNone/>
            </a:pPr>
            <a:r>
              <a:rPr lang="en-US" sz="1400" b="1" dirty="0">
                <a:solidFill>
                  <a:schemeClr val="bg1"/>
                </a:solidFill>
                <a:latin typeface="Calibri" pitchFamily="34" charset="0"/>
                <a:ea typeface="Calibri" pitchFamily="34" charset="-122"/>
                <a:cs typeface="Calibri" pitchFamily="34" charset="-120"/>
              </a:rPr>
              <a:t>Challenge</a:t>
            </a:r>
            <a:endParaRPr lang="en-US" sz="1400" dirty="0"/>
          </a:p>
        </p:txBody>
      </p:sp>
      <p:sp>
        <p:nvSpPr>
          <p:cNvPr id="5" name="Text 3"/>
          <p:cNvSpPr txBox="1"/>
          <p:nvPr/>
        </p:nvSpPr>
        <p:spPr>
          <a:xfrm>
            <a:off x="5212080" y="1280160"/>
            <a:ext cx="6217920" cy="384048"/>
          </a:xfrm>
          <a:prstGeom prst="rect">
            <a:avLst/>
          </a:prstGeom>
          <a:noFill/>
          <a:ln/>
        </p:spPr>
        <p:txBody>
          <a:bodyPr wrap="square" lIns="0" tIns="0" rIns="0" bIns="0" rtlCol="0" anchor="ctr"/>
          <a:lstStyle/>
          <a:p>
            <a:pPr indent="0" marL="0">
              <a:buNone/>
            </a:pPr>
            <a:r>
              <a:rPr lang="en-US" sz="1400" b="1" dirty="0">
                <a:solidFill>
                  <a:schemeClr val="bg1"/>
                </a:solidFill>
                <a:latin typeface="Calibri" pitchFamily="34" charset="0"/>
                <a:ea typeface="Calibri" pitchFamily="34" charset="-122"/>
                <a:cs typeface="Calibri" pitchFamily="34" charset="-120"/>
              </a:rPr>
              <a:t>How it was addressed</a:t>
            </a:r>
            <a:endParaRPr lang="en-US" sz="1400" dirty="0"/>
          </a:p>
        </p:txBody>
      </p:sp>
      <p:sp>
        <p:nvSpPr>
          <p:cNvPr id="6" name="Card"/>
          <p:cNvSpPr/>
          <p:nvPr/>
        </p:nvSpPr>
        <p:spPr>
          <a:xfrm>
            <a:off x="548640" y="1783080"/>
            <a:ext cx="11109960" cy="777240"/>
          </a:xfrm>
          <a:prstGeom prst="roundRect">
            <a:avLst>
              <a:gd name="adj" fmla="val 14118"/>
            </a:avLst>
          </a:prstGeom>
          <a:solidFill>
            <a:schemeClr val="bg2"/>
          </a:solidFill>
          <a:ln w="12700">
            <a:solidFill>
              <a:schemeClr val="bg2"/>
            </a:solidFill>
            <a:prstDash val="solid"/>
          </a:ln>
        </p:spPr>
      </p:sp>
      <p:sp>
        <p:nvSpPr>
          <p:cNvPr id="7" name="Icon badge"/>
          <p:cNvSpPr/>
          <p:nvPr/>
        </p:nvSpPr>
        <p:spPr>
          <a:xfrm>
            <a:off x="685800" y="1901952"/>
            <a:ext cx="530352" cy="530352"/>
          </a:xfrm>
          <a:prstGeom prst="ellipse">
            <a:avLst/>
          </a:prstGeom>
          <a:solidFill>
            <a:schemeClr val="accent1"/>
          </a:solidFill>
          <a:ln w="12700">
            <a:solidFill>
              <a:schemeClr val="accent1"/>
            </a:solidFill>
            <a:prstDash val="solid"/>
          </a:ln>
        </p:spPr>
      </p:sp>
      <p:pic>
        <p:nvPicPr>
          <p:cNvPr id="8" name="Image 0" descr="icon">    </p:cNvPr>
          <p:cNvPicPr>
            <a:picLocks noChangeAspect="1"/>
          </p:cNvPicPr>
          <p:nvPr/>
        </p:nvPicPr>
        <p:blipFill>
          <a:blip r:embed="rId1"/>
          <a:stretch>
            <a:fillRect/>
          </a:stretch>
        </p:blipFill>
        <p:spPr>
          <a:xfrm>
            <a:off x="823692" y="2039844"/>
            <a:ext cx="254569" cy="254569"/>
          </a:xfrm>
          <a:prstGeom prst="rect">
            <a:avLst/>
          </a:prstGeom>
        </p:spPr>
      </p:pic>
      <p:sp>
        <p:nvSpPr>
          <p:cNvPr id="9" name="Text 6"/>
          <p:cNvSpPr txBox="1"/>
          <p:nvPr/>
        </p:nvSpPr>
        <p:spPr>
          <a:xfrm>
            <a:off x="1417320" y="1783080"/>
            <a:ext cx="3520440" cy="77724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(Blank) Year Month in the trend chart</a:t>
            </a:r>
            <a:endParaRPr lang="en-US" sz="1400" dirty="0"/>
          </a:p>
        </p:txBody>
      </p:sp>
      <p:sp>
        <p:nvSpPr>
          <p:cNvPr id="10" name="Shape 7"/>
          <p:cNvSpPr/>
          <p:nvPr/>
        </p:nvSpPr>
        <p:spPr>
          <a:xfrm>
            <a:off x="4983480" y="2039112"/>
            <a:ext cx="320040" cy="274320"/>
          </a:xfrm>
          <a:prstGeom prst="rightArrow">
            <a:avLst/>
          </a:prstGeom>
          <a:solidFill>
            <a:schemeClr val="accent1"/>
          </a:solidFill>
          <a:ln w="12700">
            <a:solidFill>
              <a:schemeClr val="accent1"/>
            </a:solidFill>
            <a:prstDash val="solid"/>
          </a:ln>
        </p:spPr>
      </p:sp>
      <p:sp>
        <p:nvSpPr>
          <p:cNvPr id="11" name="Text 8"/>
          <p:cNvSpPr txBox="1"/>
          <p:nvPr/>
        </p:nvSpPr>
        <p:spPr>
          <a:xfrm>
            <a:off x="5486400" y="1783080"/>
            <a:ext cx="6035040" cy="7772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Built a DimDate table, created a date-only key, kept the relationship active and sorted by YearMonthSort</a:t>
            </a:r>
            <a:endParaRPr lang="en-US" sz="1400" dirty="0"/>
          </a:p>
        </p:txBody>
      </p:sp>
      <p:sp>
        <p:nvSpPr>
          <p:cNvPr id="12" name="Card"/>
          <p:cNvSpPr/>
          <p:nvPr/>
        </p:nvSpPr>
        <p:spPr>
          <a:xfrm>
            <a:off x="548640" y="2670048"/>
            <a:ext cx="11109960" cy="777240"/>
          </a:xfrm>
          <a:prstGeom prst="roundRect">
            <a:avLst>
              <a:gd name="adj" fmla="val 14118"/>
            </a:avLst>
          </a:prstGeom>
          <a:solidFill>
            <a:schemeClr val="bg2"/>
          </a:solidFill>
          <a:ln w="12700">
            <a:solidFill>
              <a:schemeClr val="bg2"/>
            </a:solidFill>
            <a:prstDash val="solid"/>
          </a:ln>
        </p:spPr>
      </p:sp>
      <p:sp>
        <p:nvSpPr>
          <p:cNvPr id="13" name="Icon badge"/>
          <p:cNvSpPr/>
          <p:nvPr/>
        </p:nvSpPr>
        <p:spPr>
          <a:xfrm>
            <a:off x="685800" y="2788920"/>
            <a:ext cx="530352" cy="530352"/>
          </a:xfrm>
          <a:prstGeom prst="ellipse">
            <a:avLst/>
          </a:prstGeom>
          <a:solidFill>
            <a:schemeClr val="accent1"/>
          </a:solidFill>
          <a:ln w="12700">
            <a:solidFill>
              <a:schemeClr val="accent1"/>
            </a:solidFill>
            <a:prstDash val="solid"/>
          </a:ln>
        </p:spPr>
      </p:sp>
      <p:pic>
        <p:nvPicPr>
          <p:cNvPr id="14" name="Image 1" descr="icon">    </p:cNvPr>
          <p:cNvPicPr>
            <a:picLocks noChangeAspect="1"/>
          </p:cNvPicPr>
          <p:nvPr/>
        </p:nvPicPr>
        <p:blipFill>
          <a:blip r:embed="rId2"/>
          <a:stretch>
            <a:fillRect/>
          </a:stretch>
        </p:blipFill>
        <p:spPr>
          <a:xfrm>
            <a:off x="823692" y="2926812"/>
            <a:ext cx="254569" cy="254569"/>
          </a:xfrm>
          <a:prstGeom prst="rect">
            <a:avLst/>
          </a:prstGeom>
        </p:spPr>
      </p:pic>
      <p:sp>
        <p:nvSpPr>
          <p:cNvPr id="15" name="Text 11"/>
          <p:cNvSpPr txBox="1"/>
          <p:nvPr/>
        </p:nvSpPr>
        <p:spPr>
          <a:xfrm>
            <a:off x="1417320" y="2670048"/>
            <a:ext cx="3520440" cy="77724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Hours and months sorted alphabetically</a:t>
            </a:r>
            <a:endParaRPr lang="en-US" sz="1400" dirty="0"/>
          </a:p>
        </p:txBody>
      </p:sp>
      <p:sp>
        <p:nvSpPr>
          <p:cNvPr id="16" name="Shape 12"/>
          <p:cNvSpPr/>
          <p:nvPr/>
        </p:nvSpPr>
        <p:spPr>
          <a:xfrm>
            <a:off x="4983480" y="2926080"/>
            <a:ext cx="320040" cy="274320"/>
          </a:xfrm>
          <a:prstGeom prst="rightArrow">
            <a:avLst/>
          </a:prstGeom>
          <a:solidFill>
            <a:schemeClr val="accent1"/>
          </a:solidFill>
          <a:ln w="12700">
            <a:solidFill>
              <a:schemeClr val="accent1"/>
            </a:solidFill>
            <a:prstDash val="solid"/>
          </a:ln>
        </p:spPr>
      </p:sp>
      <p:sp>
        <p:nvSpPr>
          <p:cNvPr id="17" name="Text 13"/>
          <p:cNvSpPr txBox="1"/>
          <p:nvPr/>
        </p:nvSpPr>
        <p:spPr>
          <a:xfrm>
            <a:off x="5486400" y="2670048"/>
            <a:ext cx="6035040" cy="7772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Used a sort-by-column field so time labels follow chronological order</a:t>
            </a:r>
            <a:endParaRPr lang="en-US" sz="1400" dirty="0"/>
          </a:p>
        </p:txBody>
      </p:sp>
      <p:sp>
        <p:nvSpPr>
          <p:cNvPr id="18" name="Card"/>
          <p:cNvSpPr/>
          <p:nvPr/>
        </p:nvSpPr>
        <p:spPr>
          <a:xfrm>
            <a:off x="548640" y="3557016"/>
            <a:ext cx="11109960" cy="777240"/>
          </a:xfrm>
          <a:prstGeom prst="roundRect">
            <a:avLst>
              <a:gd name="adj" fmla="val 14118"/>
            </a:avLst>
          </a:prstGeom>
          <a:solidFill>
            <a:schemeClr val="bg2"/>
          </a:solidFill>
          <a:ln w="12700">
            <a:solidFill>
              <a:schemeClr val="bg2"/>
            </a:solidFill>
            <a:prstDash val="solid"/>
          </a:ln>
        </p:spPr>
      </p:sp>
      <p:sp>
        <p:nvSpPr>
          <p:cNvPr id="19" name="Icon badge"/>
          <p:cNvSpPr/>
          <p:nvPr/>
        </p:nvSpPr>
        <p:spPr>
          <a:xfrm>
            <a:off x="685800" y="3675888"/>
            <a:ext cx="530352" cy="530352"/>
          </a:xfrm>
          <a:prstGeom prst="ellipse">
            <a:avLst/>
          </a:prstGeom>
          <a:solidFill>
            <a:schemeClr val="accent1"/>
          </a:solidFill>
          <a:ln w="12700">
            <a:solidFill>
              <a:schemeClr val="accent1"/>
            </a:solidFill>
            <a:prstDash val="solid"/>
          </a:ln>
        </p:spPr>
      </p:sp>
      <p:pic>
        <p:nvPicPr>
          <p:cNvPr id="20" name="Image 2" descr="icon">    </p:cNvPr>
          <p:cNvPicPr>
            <a:picLocks noChangeAspect="1"/>
          </p:cNvPicPr>
          <p:nvPr/>
        </p:nvPicPr>
        <p:blipFill>
          <a:blip r:embed="rId3"/>
          <a:stretch>
            <a:fillRect/>
          </a:stretch>
        </p:blipFill>
        <p:spPr>
          <a:xfrm>
            <a:off x="823692" y="3813780"/>
            <a:ext cx="254569" cy="254569"/>
          </a:xfrm>
          <a:prstGeom prst="rect">
            <a:avLst/>
          </a:prstGeom>
        </p:spPr>
      </p:pic>
      <p:sp>
        <p:nvSpPr>
          <p:cNvPr id="21" name="Text 16"/>
          <p:cNvSpPr txBox="1"/>
          <p:nvPr/>
        </p:nvSpPr>
        <p:spPr>
          <a:xfrm>
            <a:off x="1417320" y="3557016"/>
            <a:ext cx="3520440" cy="77724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KPI definitions: Repeat vs Frequent, retention 0.25, cancellation 0.07</a:t>
            </a:r>
            <a:endParaRPr lang="en-US" sz="1400" dirty="0"/>
          </a:p>
        </p:txBody>
      </p:sp>
      <p:sp>
        <p:nvSpPr>
          <p:cNvPr id="22" name="Shape 17"/>
          <p:cNvSpPr/>
          <p:nvPr/>
        </p:nvSpPr>
        <p:spPr>
          <a:xfrm>
            <a:off x="4983480" y="3813048"/>
            <a:ext cx="320040" cy="274320"/>
          </a:xfrm>
          <a:prstGeom prst="rightArrow">
            <a:avLst/>
          </a:prstGeom>
          <a:solidFill>
            <a:schemeClr val="accent1"/>
          </a:solidFill>
          <a:ln w="12700">
            <a:solidFill>
              <a:schemeClr val="accent1"/>
            </a:solidFill>
            <a:prstDash val="solid"/>
          </a:ln>
        </p:spPr>
      </p:sp>
      <p:sp>
        <p:nvSpPr>
          <p:cNvPr id="23" name="Text 18"/>
          <p:cNvSpPr txBox="1"/>
          <p:nvPr/>
        </p:nvSpPr>
        <p:spPr>
          <a:xfrm>
            <a:off x="5486400" y="3557016"/>
            <a:ext cx="6035040" cy="7772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Kept one segment definition, used DIVIDE with the correct denominator and applied percentage formatting</a:t>
            </a:r>
            <a:endParaRPr lang="en-US" sz="1400" dirty="0"/>
          </a:p>
        </p:txBody>
      </p:sp>
      <p:sp>
        <p:nvSpPr>
          <p:cNvPr id="24" name="Card"/>
          <p:cNvSpPr/>
          <p:nvPr/>
        </p:nvSpPr>
        <p:spPr>
          <a:xfrm>
            <a:off x="548640" y="4443984"/>
            <a:ext cx="11109960" cy="777240"/>
          </a:xfrm>
          <a:prstGeom prst="roundRect">
            <a:avLst>
              <a:gd name="adj" fmla="val 14118"/>
            </a:avLst>
          </a:prstGeom>
          <a:solidFill>
            <a:schemeClr val="bg2"/>
          </a:solidFill>
          <a:ln w="12700">
            <a:solidFill>
              <a:schemeClr val="bg2"/>
            </a:solidFill>
            <a:prstDash val="solid"/>
          </a:ln>
        </p:spPr>
      </p:sp>
      <p:sp>
        <p:nvSpPr>
          <p:cNvPr id="25" name="Icon badge"/>
          <p:cNvSpPr/>
          <p:nvPr/>
        </p:nvSpPr>
        <p:spPr>
          <a:xfrm>
            <a:off x="685800" y="4562856"/>
            <a:ext cx="530352" cy="530352"/>
          </a:xfrm>
          <a:prstGeom prst="ellipse">
            <a:avLst/>
          </a:prstGeom>
          <a:solidFill>
            <a:schemeClr val="accent1"/>
          </a:solidFill>
          <a:ln w="12700">
            <a:solidFill>
              <a:schemeClr val="accent1"/>
            </a:solidFill>
            <a:prstDash val="solid"/>
          </a:ln>
        </p:spPr>
      </p:sp>
      <p:pic>
        <p:nvPicPr>
          <p:cNvPr id="26" name="Image 3" descr="icon">    </p:cNvPr>
          <p:cNvPicPr>
            <a:picLocks noChangeAspect="1"/>
          </p:cNvPicPr>
          <p:nvPr/>
        </p:nvPicPr>
        <p:blipFill>
          <a:blip r:embed="rId4"/>
          <a:stretch>
            <a:fillRect/>
          </a:stretch>
        </p:blipFill>
        <p:spPr>
          <a:xfrm>
            <a:off x="823692" y="4700748"/>
            <a:ext cx="254569" cy="254569"/>
          </a:xfrm>
          <a:prstGeom prst="rect">
            <a:avLst/>
          </a:prstGeom>
        </p:spPr>
      </p:pic>
      <p:sp>
        <p:nvSpPr>
          <p:cNvPr id="27" name="Text 21"/>
          <p:cNvSpPr txBox="1"/>
          <p:nvPr/>
        </p:nvSpPr>
        <p:spPr>
          <a:xfrm>
            <a:off x="1417320" y="4443984"/>
            <a:ext cx="3520440" cy="77724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Crowded visuals: order amounts and review text</a:t>
            </a:r>
            <a:endParaRPr lang="en-US" sz="1400" dirty="0"/>
          </a:p>
        </p:txBody>
      </p:sp>
      <p:sp>
        <p:nvSpPr>
          <p:cNvPr id="28" name="Shape 22"/>
          <p:cNvSpPr/>
          <p:nvPr/>
        </p:nvSpPr>
        <p:spPr>
          <a:xfrm>
            <a:off x="4983480" y="4700016"/>
            <a:ext cx="320040" cy="274320"/>
          </a:xfrm>
          <a:prstGeom prst="rightArrow">
            <a:avLst/>
          </a:prstGeom>
          <a:solidFill>
            <a:schemeClr val="accent1"/>
          </a:solidFill>
          <a:ln w="12700">
            <a:solidFill>
              <a:schemeClr val="accent1"/>
            </a:solidFill>
            <a:prstDash val="solid"/>
          </a:ln>
        </p:spPr>
      </p:sp>
      <p:sp>
        <p:nvSpPr>
          <p:cNvPr id="29" name="Text 23"/>
          <p:cNvSpPr txBox="1"/>
          <p:nvPr/>
        </p:nvSpPr>
        <p:spPr>
          <a:xfrm>
            <a:off x="5486400" y="4443984"/>
            <a:ext cx="6035040" cy="7772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Replaced with bins or histograms and used Top N filters with shorter labels</a:t>
            </a:r>
            <a:endParaRPr lang="en-US" sz="1400" dirty="0"/>
          </a:p>
        </p:txBody>
      </p:sp>
      <p:sp>
        <p:nvSpPr>
          <p:cNvPr id="30" name="Card"/>
          <p:cNvSpPr/>
          <p:nvPr/>
        </p:nvSpPr>
        <p:spPr>
          <a:xfrm>
            <a:off x="548640" y="5330952"/>
            <a:ext cx="11109960" cy="777240"/>
          </a:xfrm>
          <a:prstGeom prst="roundRect">
            <a:avLst>
              <a:gd name="adj" fmla="val 14118"/>
            </a:avLst>
          </a:prstGeom>
          <a:solidFill>
            <a:schemeClr val="bg2"/>
          </a:solidFill>
          <a:ln w="12700">
            <a:solidFill>
              <a:schemeClr val="bg2"/>
            </a:solidFill>
            <a:prstDash val="solid"/>
          </a:ln>
        </p:spPr>
      </p:sp>
      <p:sp>
        <p:nvSpPr>
          <p:cNvPr id="31" name="Icon badge"/>
          <p:cNvSpPr/>
          <p:nvPr/>
        </p:nvSpPr>
        <p:spPr>
          <a:xfrm>
            <a:off x="685800" y="5449824"/>
            <a:ext cx="530352" cy="530352"/>
          </a:xfrm>
          <a:prstGeom prst="ellipse">
            <a:avLst/>
          </a:prstGeom>
          <a:solidFill>
            <a:schemeClr val="accent1"/>
          </a:solidFill>
          <a:ln w="12700">
            <a:solidFill>
              <a:schemeClr val="accent1"/>
            </a:solidFill>
            <a:prstDash val="solid"/>
          </a:ln>
        </p:spPr>
      </p:sp>
      <p:pic>
        <p:nvPicPr>
          <p:cNvPr id="32" name="Image 4" descr="icon">    </p:cNvPr>
          <p:cNvPicPr>
            <a:picLocks noChangeAspect="1"/>
          </p:cNvPicPr>
          <p:nvPr/>
        </p:nvPicPr>
        <p:blipFill>
          <a:blip r:embed="rId5"/>
          <a:stretch>
            <a:fillRect/>
          </a:stretch>
        </p:blipFill>
        <p:spPr>
          <a:xfrm>
            <a:off x="823692" y="5587716"/>
            <a:ext cx="254569" cy="254569"/>
          </a:xfrm>
          <a:prstGeom prst="rect">
            <a:avLst/>
          </a:prstGeom>
        </p:spPr>
      </p:pic>
      <p:sp>
        <p:nvSpPr>
          <p:cNvPr id="33" name="Text 26"/>
          <p:cNvSpPr txBox="1"/>
          <p:nvPr/>
        </p:nvSpPr>
        <p:spPr>
          <a:xfrm>
            <a:off x="1417320" y="5330952"/>
            <a:ext cx="3520440" cy="77724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Source, currency and metric validation</a:t>
            </a:r>
            <a:endParaRPr lang="en-US" sz="1400" dirty="0"/>
          </a:p>
        </p:txBody>
      </p:sp>
      <p:sp>
        <p:nvSpPr>
          <p:cNvPr id="34" name="Shape 27"/>
          <p:cNvSpPr/>
          <p:nvPr/>
        </p:nvSpPr>
        <p:spPr>
          <a:xfrm>
            <a:off x="4983480" y="5586984"/>
            <a:ext cx="320040" cy="274320"/>
          </a:xfrm>
          <a:prstGeom prst="rightArrow">
            <a:avLst/>
          </a:prstGeom>
          <a:solidFill>
            <a:schemeClr val="accent1"/>
          </a:solidFill>
          <a:ln w="12700">
            <a:solidFill>
              <a:schemeClr val="accent1"/>
            </a:solidFill>
            <a:prstDash val="solid"/>
          </a:ln>
        </p:spPr>
      </p:sp>
      <p:sp>
        <p:nvSpPr>
          <p:cNvPr id="35" name="Text 28"/>
          <p:cNvSpPr txBox="1"/>
          <p:nvPr/>
        </p:nvSpPr>
        <p:spPr>
          <a:xfrm>
            <a:off x="5486400" y="5330952"/>
            <a:ext cx="6035040" cy="77724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Matched Power BI totals with SQL results and labeled the data as practice data with units unconfirmed</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bg1"/>
                </a:solidFill>
                <a:latin typeface="Cambria" pitchFamily="34" charset="0"/>
                <a:ea typeface="Cambria" pitchFamily="34" charset="-122"/>
                <a:cs typeface="Cambria" pitchFamily="34" charset="-120"/>
              </a:rPr>
              <a:t>Conclusion</a:t>
            </a:r>
            <a:endParaRPr lang="en-US" sz="3400" dirty="0"/>
          </a:p>
        </p:txBody>
      </p:sp>
      <p:sp>
        <p:nvSpPr>
          <p:cNvPr id="3" name="Text 1"/>
          <p:cNvSpPr txBox="1"/>
          <p:nvPr/>
        </p:nvSpPr>
        <p:spPr>
          <a:xfrm>
            <a:off x="548640" y="1554480"/>
            <a:ext cx="10515600" cy="41148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Key Takeaways</a:t>
            </a:r>
            <a:endParaRPr lang="en-US" sz="2400" dirty="0"/>
          </a:p>
        </p:txBody>
      </p:sp>
      <p:sp>
        <p:nvSpPr>
          <p:cNvPr id="4" name="Text 2"/>
          <p:cNvSpPr txBox="1"/>
          <p:nvPr/>
        </p:nvSpPr>
        <p:spPr>
          <a:xfrm>
            <a:off x="548640" y="2194560"/>
            <a:ext cx="10972800" cy="25603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bg1"/>
                </a:solidFill>
                <a:latin typeface="Calibri" pitchFamily="34" charset="0"/>
                <a:ea typeface="Calibri" pitchFamily="34" charset="-122"/>
                <a:cs typeface="Calibri" pitchFamily="34" charset="-120"/>
              </a:rPr>
              <a:t>MySQL and Power BI combined into one analytical workflow</a:t>
            </a:r>
            <a:endParaRPr lang="en-US" sz="1800" dirty="0"/>
          </a:p>
          <a:p>
            <a:pPr marL="342900" indent="-342900">
              <a:spcAft>
                <a:spcPts val="1400"/>
              </a:spcAft>
              <a:buSzPct val="100000"/>
              <a:buChar char="•"/>
            </a:pPr>
            <a:r>
              <a:rPr lang="en-US" sz="1800" dirty="0">
                <a:solidFill>
                  <a:schemeClr val="bg1"/>
                </a:solidFill>
                <a:latin typeface="Calibri" pitchFamily="34" charset="0"/>
                <a:ea typeface="Calibri" pitchFamily="34" charset="-122"/>
                <a:cs typeface="Calibri" pitchFamily="34" charset="-120"/>
              </a:rPr>
              <a:t>Five dashboard pages compare orders, customers, ratings and locations</a:t>
            </a:r>
            <a:endParaRPr lang="en-US" sz="1800" dirty="0"/>
          </a:p>
          <a:p>
            <a:pPr marL="342900" indent="-342900">
              <a:spcAft>
                <a:spcPts val="1400"/>
              </a:spcAft>
              <a:buSzPct val="100000"/>
              <a:buChar char="•"/>
            </a:pPr>
            <a:r>
              <a:rPr lang="en-US" sz="1800" dirty="0">
                <a:solidFill>
                  <a:schemeClr val="bg1"/>
                </a:solidFill>
                <a:latin typeface="Calibri" pitchFamily="34" charset="0"/>
                <a:ea typeface="Calibri" pitchFamily="34" charset="-122"/>
                <a:cs typeface="Calibri" pitchFamily="34" charset="-120"/>
              </a:rPr>
              <a:t>Delivered orders dominate; cancellations and returns are small but worth tracking</a:t>
            </a:r>
            <a:endParaRPr lang="en-US" sz="1800" dirty="0"/>
          </a:p>
          <a:p>
            <a:pPr marL="342900" indent="-342900">
              <a:spcAft>
                <a:spcPts val="1400"/>
              </a:spcAft>
              <a:buSzPct val="100000"/>
              <a:buChar char="•"/>
            </a:pPr>
            <a:r>
              <a:rPr lang="en-US" sz="1800" dirty="0">
                <a:solidFill>
                  <a:schemeClr val="bg1"/>
                </a:solidFill>
                <a:latin typeface="Calibri" pitchFamily="34" charset="0"/>
                <a:ea typeface="Calibri" pitchFamily="34" charset="-122"/>
                <a:cs typeface="Calibri" pitchFamily="34" charset="-120"/>
              </a:rPr>
              <a:t>Findings are descriptive and need validated sources and units</a:t>
            </a:r>
            <a:endParaRPr lang="en-US" sz="1800" dirty="0"/>
          </a:p>
        </p:txBody>
      </p:sp>
      <p:sp>
        <p:nvSpPr>
          <p:cNvPr id="5" name="Text 3"/>
          <p:cNvSpPr txBox="1"/>
          <p:nvPr/>
        </p:nvSpPr>
        <p:spPr>
          <a:xfrm>
            <a:off x="548640" y="4754880"/>
            <a:ext cx="11109960" cy="36576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Deliverables on GitHub: PBIX report  •  SQL script  •  four CSV datasets  •  dashboard screenshots  •  README</a:t>
            </a:r>
            <a:endParaRPr lang="en-US" sz="1400" dirty="0"/>
          </a:p>
        </p:txBody>
      </p:sp>
      <p:sp>
        <p:nvSpPr>
          <p:cNvPr id="6" name="Text 4"/>
          <p:cNvSpPr txBox="1"/>
          <p:nvPr/>
        </p:nvSpPr>
        <p:spPr>
          <a:xfrm>
            <a:off x="548640" y="5394960"/>
            <a:ext cx="11109960" cy="6400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Thank you</a:t>
            </a:r>
            <a:endParaRPr lang="en-US" sz="36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Zomato Analytics">
  <a:themeElements>
    <a:clrScheme name="Zomato Analytics">
      <a:dk1>
        <a:srgbClr val="2D2D2D"/>
      </a:dk1>
      <a:lt1>
        <a:srgbClr val="FFFFFF"/>
      </a:lt1>
      <a:dk2>
        <a:srgbClr val="8E1420"/>
      </a:dk2>
      <a:lt2>
        <a:srgbClr val="FFE9EA"/>
      </a:lt2>
      <a:accent1>
        <a:srgbClr val="CB202D"/>
      </a:accent1>
      <a:accent2>
        <a:srgbClr val="2D2D2D"/>
      </a:accent2>
      <a:accent3>
        <a:srgbClr val="F2A5AA"/>
      </a:accent3>
      <a:accent4>
        <a:srgbClr val="E8A33D"/>
      </a:accent4>
      <a:accent5>
        <a:srgbClr val="7A7A7A"/>
      </a:accent5>
      <a:accent6>
        <a:srgbClr val="1F8A5B"/>
      </a:accent6>
      <a:hlink>
        <a:srgbClr val="CB202D"/>
      </a:hlink>
      <a:folHlink>
        <a:srgbClr val="8E1420"/>
      </a:folHlink>
    </a:clrScheme>
    <a:fontScheme name="Zomato Analyt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Zomato Restaurant Ratings &amp; Order Trends Analysis</dc:title>
  <dc:subject>PptxGenJS Presentation</dc:subject>
  <dc:creator>Gayathri</dc:creator>
  <cp:lastModifiedBy>Gayathri</cp:lastModifiedBy>
  <cp:revision>1</cp:revision>
  <dcterms:created xsi:type="dcterms:W3CDTF">2026-10-21T07:46:37Z</dcterms:created>
  <dcterms:modified xsi:type="dcterms:W3CDTF">2026-10-21T07:46:37Z</dcterms:modified>
</cp:coreProperties>
</file>